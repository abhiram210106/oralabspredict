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3108960" cy="36576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 AI CHEMINFORMATICS &amp; ADME PREDICTION</a:t>
            </a:r>
          </a:p>
        </p:txBody>
      </p:sp>
      <p:sp>
        <p:nvSpPr>
          <p:cNvPr id="4" name="TextBox 3"/>
          <p:cNvSpPr txBox="1"/>
          <p:nvPr/>
        </p:nvSpPr>
        <p:spPr>
          <a:xfrm>
            <a:off x="731520" y="1645920"/>
            <a:ext cx="10515600" cy="1645920"/>
          </a:xfrm>
          <a:prstGeom prst="rect">
            <a:avLst/>
          </a:prstGeom>
          <a:noFill/>
        </p:spPr>
        <p:txBody>
          <a:bodyPr wrap="square">
            <a:spAutoFit/>
          </a:bodyPr>
          <a:lstStyle/>
          <a:p>
            <a:pPr>
              <a:defRPr sz="4600" b="1">
                <a:solidFill>
                  <a:srgbClr val="F8FAFC"/>
                </a:solidFill>
              </a:defRPr>
            </a:pPr>
            <a:r>
              <a:t>OralAbsPredict</a:t>
            </a:r>
          </a:p>
          <a:p>
            <a:pPr>
              <a:spcBef>
                <a:spcPts val="1000"/>
              </a:spcBef>
              <a:defRPr sz="2000">
                <a:solidFill>
                  <a:srgbClr val="38BDF8"/>
                </a:solidFill>
              </a:defRPr>
            </a:pPr>
            <a:r>
              <a:t>A Data-Driven Framework to Predict Human Intestinal Absorption (HIA)</a:t>
            </a:r>
            <a:br/>
            <a:r>
              <a:t>and Human Oral Bioavailability (HOB) from Chemical Structures</a:t>
            </a:r>
          </a:p>
        </p:txBody>
      </p:sp>
      <p:sp>
        <p:nvSpPr>
          <p:cNvPr id="5" name="Rounded Rectangle 4"/>
          <p:cNvSpPr/>
          <p:nvPr/>
        </p:nvSpPr>
        <p:spPr>
          <a:xfrm>
            <a:off x="731520" y="3840480"/>
            <a:ext cx="329184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840480"/>
            <a:ext cx="32918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77640"/>
            <a:ext cx="2926080" cy="1737360"/>
          </a:xfrm>
          <a:prstGeom prst="rect">
            <a:avLst/>
          </a:prstGeom>
          <a:noFill/>
        </p:spPr>
        <p:txBody>
          <a:bodyPr wrap="square">
            <a:spAutoFit/>
          </a:bodyPr>
          <a:lstStyle/>
          <a:p>
            <a:pPr>
              <a:defRPr sz="1400" b="1">
                <a:solidFill>
                  <a:srgbClr val="10B981"/>
                </a:solidFill>
              </a:defRPr>
            </a:pPr>
            <a:r>
              <a:t>Official Problem Statement</a:t>
            </a:r>
          </a:p>
          <a:p>
            <a:pPr>
              <a:spcBef>
                <a:spcPts val="400"/>
              </a:spcBef>
              <a:defRPr sz="1100">
                <a:solidFill>
                  <a:srgbClr val="F8FAFC"/>
                </a:solidFill>
              </a:defRPr>
            </a:pPr>
            <a:r>
              <a:t>•  Poor oral absorption causes early drug candidate attrition</a:t>
            </a:r>
          </a:p>
          <a:p>
            <a:pPr>
              <a:spcBef>
                <a:spcPts val="400"/>
              </a:spcBef>
              <a:defRPr sz="1100">
                <a:solidFill>
                  <a:srgbClr val="F8FAFC"/>
                </a:solidFill>
              </a:defRPr>
            </a:pPr>
            <a:r>
              <a:t>•  In vivo / in vitro assays are expensive and time-consuming</a:t>
            </a:r>
          </a:p>
          <a:p>
            <a:pPr>
              <a:spcBef>
                <a:spcPts val="400"/>
              </a:spcBef>
              <a:defRPr sz="1100">
                <a:solidFill>
                  <a:srgbClr val="F8FAFC"/>
                </a:solidFill>
              </a:defRPr>
            </a:pPr>
            <a:r>
              <a:t>•  AI framework predicts HIA &amp; HOB directly from SMILES</a:t>
            </a:r>
          </a:p>
        </p:txBody>
      </p:sp>
      <p:sp>
        <p:nvSpPr>
          <p:cNvPr id="8" name="Rounded Rectangle 7"/>
          <p:cNvSpPr/>
          <p:nvPr/>
        </p:nvSpPr>
        <p:spPr>
          <a:xfrm>
            <a:off x="4297680" y="3840480"/>
            <a:ext cx="329184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3840480"/>
            <a:ext cx="329184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3977640"/>
            <a:ext cx="2926080" cy="1737360"/>
          </a:xfrm>
          <a:prstGeom prst="rect">
            <a:avLst/>
          </a:prstGeom>
          <a:noFill/>
        </p:spPr>
        <p:txBody>
          <a:bodyPr wrap="square">
            <a:spAutoFit/>
          </a:bodyPr>
          <a:lstStyle/>
          <a:p>
            <a:pPr>
              <a:defRPr sz="1400" b="1">
                <a:solidFill>
                  <a:srgbClr val="818CF8"/>
                </a:solidFill>
              </a:defRPr>
            </a:pPr>
            <a:r>
              <a:t>Core Technology Stack</a:t>
            </a:r>
          </a:p>
          <a:p>
            <a:pPr>
              <a:spcBef>
                <a:spcPts val="400"/>
              </a:spcBef>
              <a:defRPr sz="1100">
                <a:solidFill>
                  <a:srgbClr val="F8FAFC"/>
                </a:solidFill>
              </a:defRPr>
            </a:pPr>
            <a:r>
              <a:t>•  RDKit &amp; Mordred (2D/3D Chemical Descriptors)</a:t>
            </a:r>
          </a:p>
          <a:p>
            <a:pPr>
              <a:spcBef>
                <a:spcPts val="400"/>
              </a:spcBef>
              <a:defRPr sz="1100">
                <a:solidFill>
                  <a:srgbClr val="F8FAFC"/>
                </a:solidFill>
              </a:defRPr>
            </a:pPr>
            <a:r>
              <a:t>•  Morgan Circular Fingerprints (ECFP4, 512-bit)</a:t>
            </a:r>
          </a:p>
          <a:p>
            <a:pPr>
              <a:spcBef>
                <a:spcPts val="400"/>
              </a:spcBef>
              <a:defRPr sz="1100">
                <a:solidFill>
                  <a:srgbClr val="F8FAFC"/>
                </a:solidFill>
              </a:defRPr>
            </a:pPr>
            <a:r>
              <a:t>•  CatBoost, LightGBM, Random Forest, SVM &amp; SHAP XAI</a:t>
            </a:r>
          </a:p>
        </p:txBody>
      </p:sp>
      <p:sp>
        <p:nvSpPr>
          <p:cNvPr id="11" name="Rounded Rectangle 10"/>
          <p:cNvSpPr/>
          <p:nvPr/>
        </p:nvSpPr>
        <p:spPr>
          <a:xfrm>
            <a:off x="7863840" y="3840480"/>
            <a:ext cx="35661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3840480"/>
            <a:ext cx="35661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3977640"/>
            <a:ext cx="3200400" cy="1737360"/>
          </a:xfrm>
          <a:prstGeom prst="rect">
            <a:avLst/>
          </a:prstGeom>
          <a:noFill/>
        </p:spPr>
        <p:txBody>
          <a:bodyPr wrap="square">
            <a:spAutoFit/>
          </a:bodyPr>
          <a:lstStyle/>
          <a:p>
            <a:pPr>
              <a:defRPr sz="1400" b="1">
                <a:solidFill>
                  <a:srgbClr val="38BDF8"/>
                </a:solidFill>
              </a:defRPr>
            </a:pPr>
            <a:r>
              <a:t>Project Architecture</a:t>
            </a:r>
          </a:p>
          <a:p>
            <a:pPr>
              <a:spcBef>
                <a:spcPts val="400"/>
              </a:spcBef>
              <a:defRPr sz="1100">
                <a:solidFill>
                  <a:srgbClr val="F8FAFC"/>
                </a:solidFill>
              </a:defRPr>
            </a:pPr>
            <a:r>
              <a:t>•  Full end-to-end Python ML Pipeline</a:t>
            </a:r>
          </a:p>
          <a:p>
            <a:pPr>
              <a:spcBef>
                <a:spcPts val="400"/>
              </a:spcBef>
              <a:defRPr sz="1100">
                <a:solidFill>
                  <a:srgbClr val="F8FAFC"/>
                </a:solidFill>
              </a:defRPr>
            </a:pPr>
            <a:r>
              <a:t>•  Benchmark comparison of 6 candidate algorithms</a:t>
            </a:r>
          </a:p>
          <a:p>
            <a:pPr>
              <a:spcBef>
                <a:spcPts val="400"/>
              </a:spcBef>
              <a:defRPr sz="1100">
                <a:solidFill>
                  <a:srgbClr val="F8FAFC"/>
                </a:solidFill>
              </a:defRPr>
            </a:pPr>
            <a:r>
              <a:t>•  Interactive Streamlit web dashboard + 3D Conformer Viewer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The Oral Drug Attrition Challenge &amp; Project Motivation</a:t>
            </a:r>
          </a:p>
        </p:txBody>
      </p:sp>
      <p:sp>
        <p:nvSpPr>
          <p:cNvPr id="5" name="Rounded Rectangle 4"/>
          <p:cNvSpPr/>
          <p:nvPr/>
        </p:nvSpPr>
        <p:spPr>
          <a:xfrm>
            <a:off x="7315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1828800"/>
          </a:xfrm>
          <a:prstGeom prst="rect">
            <a:avLst/>
          </a:prstGeom>
          <a:noFill/>
        </p:spPr>
        <p:txBody>
          <a:bodyPr wrap="square">
            <a:spAutoFit/>
          </a:bodyPr>
          <a:lstStyle/>
          <a:p>
            <a:pPr>
              <a:defRPr sz="1400" b="1">
                <a:solidFill>
                  <a:srgbClr val="F43F5E"/>
                </a:solidFill>
              </a:defRPr>
            </a:pPr>
            <a:r>
              <a:t>1. Why Oral Absorption Fails</a:t>
            </a:r>
          </a:p>
          <a:p>
            <a:pPr>
              <a:spcBef>
                <a:spcPts val="400"/>
              </a:spcBef>
              <a:defRPr sz="1100">
                <a:solidFill>
                  <a:srgbClr val="F8FAFC"/>
                </a:solidFill>
              </a:defRPr>
            </a:pPr>
            <a:r>
              <a:t>•  Oral bioavailability is governed by two sequential biological barriers:</a:t>
            </a:r>
          </a:p>
          <a:p>
            <a:pPr>
              <a:spcBef>
                <a:spcPts val="400"/>
              </a:spcBef>
              <a:defRPr sz="1100">
                <a:solidFill>
                  <a:srgbClr val="F8FAFC"/>
                </a:solidFill>
              </a:defRPr>
            </a:pPr>
            <a:r>
              <a:t>•    • Human Intestinal Absorption (HIA): Crossing gut wall enterocytes</a:t>
            </a:r>
          </a:p>
          <a:p>
            <a:pPr>
              <a:spcBef>
                <a:spcPts val="400"/>
              </a:spcBef>
              <a:defRPr sz="1100">
                <a:solidFill>
                  <a:srgbClr val="F8FAFC"/>
                </a:solidFill>
              </a:defRPr>
            </a:pPr>
            <a:r>
              <a:t>•    • First-Pass Hepatic Clearance: Metabolic degradation by liver enzymes</a:t>
            </a:r>
          </a:p>
          <a:p>
            <a:pPr>
              <a:spcBef>
                <a:spcPts val="400"/>
              </a:spcBef>
              <a:defRPr sz="1100">
                <a:solidFill>
                  <a:srgbClr val="F8FAFC"/>
                </a:solidFill>
              </a:defRPr>
            </a:pPr>
            <a:r>
              <a:t>•  High potency in biochemical assays is useless if the drug cannot reach bloodstream</a:t>
            </a:r>
          </a:p>
        </p:txBody>
      </p:sp>
      <p:sp>
        <p:nvSpPr>
          <p:cNvPr id="8" name="Rounded Rectangle 7"/>
          <p:cNvSpPr/>
          <p:nvPr/>
        </p:nvSpPr>
        <p:spPr>
          <a:xfrm>
            <a:off x="6217920" y="1645920"/>
            <a:ext cx="52120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1828800"/>
          </a:xfrm>
          <a:prstGeom prst="rect">
            <a:avLst/>
          </a:prstGeom>
          <a:noFill/>
        </p:spPr>
        <p:txBody>
          <a:bodyPr wrap="square">
            <a:spAutoFit/>
          </a:bodyPr>
          <a:lstStyle/>
          <a:p>
            <a:pPr>
              <a:defRPr sz="1400" b="1">
                <a:solidFill>
                  <a:srgbClr val="F43F5E"/>
                </a:solidFill>
              </a:defRPr>
            </a:pPr>
            <a:r>
              <a:t>2. The Bottleneck of Experimental Testing</a:t>
            </a:r>
          </a:p>
          <a:p>
            <a:pPr>
              <a:spcBef>
                <a:spcPts val="400"/>
              </a:spcBef>
              <a:defRPr sz="1100">
                <a:solidFill>
                  <a:srgbClr val="F8FAFC"/>
                </a:solidFill>
              </a:defRPr>
            </a:pPr>
            <a:r>
              <a:t>•  Caco-2 cell permeability assays take weeks and cost thousands of dollars per compound</a:t>
            </a:r>
          </a:p>
          <a:p>
            <a:pPr>
              <a:spcBef>
                <a:spcPts val="400"/>
              </a:spcBef>
              <a:defRPr sz="1100">
                <a:solidFill>
                  <a:srgbClr val="F8FAFC"/>
                </a:solidFill>
              </a:defRPr>
            </a:pPr>
            <a:r>
              <a:t>•  Animal pharmacokinetic studies raise high ethical barriers and have poor throughput</a:t>
            </a:r>
          </a:p>
          <a:p>
            <a:pPr>
              <a:spcBef>
                <a:spcPts val="400"/>
              </a:spcBef>
              <a:defRPr sz="1100">
                <a:solidFill>
                  <a:srgbClr val="F8FAFC"/>
                </a:solidFill>
              </a:defRPr>
            </a:pPr>
            <a:r>
              <a:t>•  Computational methods suffer from dataset imbalance and lack of interpretability</a:t>
            </a:r>
          </a:p>
        </p:txBody>
      </p:sp>
      <p:sp>
        <p:nvSpPr>
          <p:cNvPr id="11" name="Rounded Rectangle 10"/>
          <p:cNvSpPr/>
          <p:nvPr/>
        </p:nvSpPr>
        <p:spPr>
          <a:xfrm>
            <a:off x="731520" y="4023360"/>
            <a:ext cx="106984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106984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10332720" cy="1920240"/>
          </a:xfrm>
          <a:prstGeom prst="rect">
            <a:avLst/>
          </a:prstGeom>
          <a:noFill/>
        </p:spPr>
        <p:txBody>
          <a:bodyPr wrap="square">
            <a:spAutoFit/>
          </a:bodyPr>
          <a:lstStyle/>
          <a:p>
            <a:pPr>
              <a:defRPr sz="1400" b="1">
                <a:solidFill>
                  <a:srgbClr val="10B981"/>
                </a:solidFill>
              </a:defRPr>
            </a:pPr>
            <a:r>
              <a:t>3. The OralAbsPredict Solution</a:t>
            </a:r>
          </a:p>
          <a:p>
            <a:pPr>
              <a:spcBef>
                <a:spcPts val="400"/>
              </a:spcBef>
              <a:defRPr sz="1100">
                <a:solidFill>
                  <a:srgbClr val="F8FAFC"/>
                </a:solidFill>
              </a:defRPr>
            </a:pPr>
            <a:r>
              <a:t>•  Direct In-Silico Screening: Predicts both HIA and HOB directly from molecular SMILES in under 1 second</a:t>
            </a:r>
          </a:p>
          <a:p>
            <a:pPr>
              <a:spcBef>
                <a:spcPts val="400"/>
              </a:spcBef>
              <a:defRPr sz="1100">
                <a:solidFill>
                  <a:srgbClr val="F8FAFC"/>
                </a:solidFill>
              </a:defRPr>
            </a:pPr>
            <a:r>
              <a:t>•  706 Hybrid Molecular Descriptors: Combines 18 RDKit physicochemical rules, 176 Mordred graph indices, and 512 Morgan bits</a:t>
            </a:r>
          </a:p>
          <a:p>
            <a:pPr>
              <a:spcBef>
                <a:spcPts val="400"/>
              </a:spcBef>
              <a:defRPr sz="1100">
                <a:solidFill>
                  <a:srgbClr val="F8FAFC"/>
                </a:solidFill>
              </a:defRPr>
            </a:pPr>
            <a:r>
              <a:t>•  Dual Ensemble Learning: CatBoost models optimized specifically for class-imbalanced pharmaceutical datasets</a:t>
            </a:r>
          </a:p>
          <a:p>
            <a:pPr>
              <a:spcBef>
                <a:spcPts val="400"/>
              </a:spcBef>
              <a:defRPr sz="1100">
                <a:solidFill>
                  <a:srgbClr val="F8FAFC"/>
                </a:solidFill>
              </a:defRPr>
            </a:pPr>
            <a:r>
              <a:t>•  Explainable AI (SHAP): Explains exact functional groups promoting or impeding intestinal absorption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End-to-End System Workflow Architecture</a:t>
            </a:r>
          </a:p>
        </p:txBody>
      </p:sp>
      <p:sp>
        <p:nvSpPr>
          <p:cNvPr id="5" name="Rounded Rectangle 4"/>
          <p:cNvSpPr/>
          <p:nvPr/>
        </p:nvSpPr>
        <p:spPr>
          <a:xfrm>
            <a:off x="731520" y="1645920"/>
            <a:ext cx="20574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574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1691640" cy="4114800"/>
          </a:xfrm>
          <a:prstGeom prst="rect">
            <a:avLst/>
          </a:prstGeom>
          <a:noFill/>
        </p:spPr>
        <p:txBody>
          <a:bodyPr wrap="square">
            <a:spAutoFit/>
          </a:bodyPr>
          <a:lstStyle/>
          <a:p>
            <a:pPr>
              <a:defRPr sz="1400" b="1">
                <a:solidFill>
                  <a:srgbClr val="38BDF8"/>
                </a:solidFill>
              </a:defRPr>
            </a:pPr>
            <a:r>
              <a:t>Step 1: Input</a:t>
            </a:r>
          </a:p>
          <a:p>
            <a:pPr>
              <a:spcBef>
                <a:spcPts val="400"/>
              </a:spcBef>
              <a:defRPr sz="1100">
                <a:solidFill>
                  <a:srgbClr val="F8FAFC"/>
                </a:solidFill>
              </a:defRPr>
            </a:pPr>
            <a:r>
              <a:t>•  [SMILES String]</a:t>
            </a:r>
          </a:p>
          <a:p>
            <a:pPr>
              <a:spcBef>
                <a:spcPts val="400"/>
              </a:spcBef>
              <a:defRPr sz="1100">
                <a:solidFill>
                  <a:srgbClr val="F8FAFC"/>
                </a:solidFill>
              </a:defRPr>
            </a:pPr>
            <a:r>
              <a:t>•  User enters SMILES or selects demo drug</a:t>
            </a:r>
          </a:p>
          <a:p>
            <a:pPr>
              <a:spcBef>
                <a:spcPts val="400"/>
              </a:spcBef>
              <a:defRPr sz="1100">
                <a:solidFill>
                  <a:srgbClr val="F8FAFC"/>
                </a:solidFill>
              </a:defRPr>
            </a:pPr>
            <a:r>
              <a:t>•  Empty / invalid check</a:t>
            </a:r>
          </a:p>
        </p:txBody>
      </p:sp>
      <p:sp>
        <p:nvSpPr>
          <p:cNvPr id="8" name="Rounded Rectangle 7"/>
          <p:cNvSpPr/>
          <p:nvPr/>
        </p:nvSpPr>
        <p:spPr>
          <a:xfrm>
            <a:off x="2898648" y="1645920"/>
            <a:ext cx="20574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645920"/>
            <a:ext cx="205740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81528" y="1783080"/>
            <a:ext cx="1691640" cy="4114800"/>
          </a:xfrm>
          <a:prstGeom prst="rect">
            <a:avLst/>
          </a:prstGeom>
          <a:noFill/>
        </p:spPr>
        <p:txBody>
          <a:bodyPr wrap="square">
            <a:spAutoFit/>
          </a:bodyPr>
          <a:lstStyle/>
          <a:p>
            <a:pPr>
              <a:defRPr sz="1400" b="1">
                <a:solidFill>
                  <a:srgbClr val="818CF8"/>
                </a:solidFill>
              </a:defRPr>
            </a:pPr>
            <a:r>
              <a:t>Step 2: Parsing</a:t>
            </a:r>
          </a:p>
          <a:p>
            <a:pPr>
              <a:spcBef>
                <a:spcPts val="400"/>
              </a:spcBef>
              <a:defRPr sz="1100">
                <a:solidFill>
                  <a:srgbClr val="F8FAFC"/>
                </a:solidFill>
              </a:defRPr>
            </a:pPr>
            <a:r>
              <a:t>•  [RDKit Sanitization]</a:t>
            </a:r>
          </a:p>
          <a:p>
            <a:pPr>
              <a:spcBef>
                <a:spcPts val="400"/>
              </a:spcBef>
              <a:defRPr sz="1100">
                <a:solidFill>
                  <a:srgbClr val="F8FAFC"/>
                </a:solidFill>
              </a:defRPr>
            </a:pPr>
            <a:r>
              <a:t>•  Kekulization &amp; valence check</a:t>
            </a:r>
          </a:p>
          <a:p>
            <a:pPr>
              <a:spcBef>
                <a:spcPts val="400"/>
              </a:spcBef>
              <a:defRPr sz="1100">
                <a:solidFill>
                  <a:srgbClr val="F8FAFC"/>
                </a:solidFill>
              </a:defRPr>
            </a:pPr>
            <a:r>
              <a:t>•  Coordinate computation</a:t>
            </a:r>
          </a:p>
        </p:txBody>
      </p:sp>
      <p:sp>
        <p:nvSpPr>
          <p:cNvPr id="11" name="Rounded Rectangle 10"/>
          <p:cNvSpPr/>
          <p:nvPr/>
        </p:nvSpPr>
        <p:spPr>
          <a:xfrm>
            <a:off x="5065776" y="1645920"/>
            <a:ext cx="20574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645920"/>
            <a:ext cx="20574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6" y="1783080"/>
            <a:ext cx="1691640" cy="4114800"/>
          </a:xfrm>
          <a:prstGeom prst="rect">
            <a:avLst/>
          </a:prstGeom>
          <a:noFill/>
        </p:spPr>
        <p:txBody>
          <a:bodyPr wrap="square">
            <a:spAutoFit/>
          </a:bodyPr>
          <a:lstStyle/>
          <a:p>
            <a:pPr>
              <a:defRPr sz="1400" b="1">
                <a:solidFill>
                  <a:srgbClr val="10B981"/>
                </a:solidFill>
              </a:defRPr>
            </a:pPr>
            <a:r>
              <a:t>Step 3: Features</a:t>
            </a:r>
          </a:p>
          <a:p>
            <a:pPr>
              <a:spcBef>
                <a:spcPts val="400"/>
              </a:spcBef>
              <a:defRPr sz="1100">
                <a:solidFill>
                  <a:srgbClr val="F8FAFC"/>
                </a:solidFill>
              </a:defRPr>
            </a:pPr>
            <a:r>
              <a:t>•  [706 Descriptors]</a:t>
            </a:r>
          </a:p>
          <a:p>
            <a:pPr>
              <a:spcBef>
                <a:spcPts val="400"/>
              </a:spcBef>
              <a:defRPr sz="1100">
                <a:solidFill>
                  <a:srgbClr val="F8FAFC"/>
                </a:solidFill>
              </a:defRPr>
            </a:pPr>
            <a:r>
              <a:t>•  18 RDKit properties</a:t>
            </a:r>
          </a:p>
          <a:p>
            <a:pPr>
              <a:spcBef>
                <a:spcPts val="400"/>
              </a:spcBef>
              <a:defRPr sz="1100">
                <a:solidFill>
                  <a:srgbClr val="F8FAFC"/>
                </a:solidFill>
              </a:defRPr>
            </a:pPr>
            <a:r>
              <a:t>•  176 Mordred 2D indices</a:t>
            </a:r>
          </a:p>
          <a:p>
            <a:pPr>
              <a:spcBef>
                <a:spcPts val="400"/>
              </a:spcBef>
              <a:defRPr sz="1100">
                <a:solidFill>
                  <a:srgbClr val="F8FAFC"/>
                </a:solidFill>
              </a:defRPr>
            </a:pPr>
            <a:r>
              <a:t>•  512 Morgan circular bits</a:t>
            </a:r>
          </a:p>
        </p:txBody>
      </p:sp>
      <p:sp>
        <p:nvSpPr>
          <p:cNvPr id="14" name="Rounded Rectangle 13"/>
          <p:cNvSpPr/>
          <p:nvPr/>
        </p:nvSpPr>
        <p:spPr>
          <a:xfrm>
            <a:off x="7232904" y="1645920"/>
            <a:ext cx="20574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645920"/>
            <a:ext cx="20574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4" y="1783080"/>
            <a:ext cx="1691640" cy="4114800"/>
          </a:xfrm>
          <a:prstGeom prst="rect">
            <a:avLst/>
          </a:prstGeom>
          <a:noFill/>
        </p:spPr>
        <p:txBody>
          <a:bodyPr wrap="square">
            <a:spAutoFit/>
          </a:bodyPr>
          <a:lstStyle/>
          <a:p>
            <a:pPr>
              <a:defRPr sz="1400" b="1">
                <a:solidFill>
                  <a:srgbClr val="F43F5E"/>
                </a:solidFill>
              </a:defRPr>
            </a:pPr>
            <a:r>
              <a:t>Step 4: Inference</a:t>
            </a:r>
          </a:p>
          <a:p>
            <a:pPr>
              <a:spcBef>
                <a:spcPts val="400"/>
              </a:spcBef>
              <a:defRPr sz="1100">
                <a:solidFill>
                  <a:srgbClr val="F8FAFC"/>
                </a:solidFill>
              </a:defRPr>
            </a:pPr>
            <a:r>
              <a:t>•  [Dual ML Models]</a:t>
            </a:r>
          </a:p>
          <a:p>
            <a:pPr>
              <a:spcBef>
                <a:spcPts val="400"/>
              </a:spcBef>
              <a:defRPr sz="1100">
                <a:solidFill>
                  <a:srgbClr val="F8FAFC"/>
                </a:solidFill>
              </a:defRPr>
            </a:pPr>
            <a:r>
              <a:t>•  HIA CatBoost Classifier</a:t>
            </a:r>
          </a:p>
          <a:p>
            <a:pPr>
              <a:spcBef>
                <a:spcPts val="400"/>
              </a:spcBef>
              <a:defRPr sz="1100">
                <a:solidFill>
                  <a:srgbClr val="F8FAFC"/>
                </a:solidFill>
              </a:defRPr>
            </a:pPr>
            <a:r>
              <a:t>•  HOB CatBoost Classifier</a:t>
            </a:r>
          </a:p>
          <a:p>
            <a:pPr>
              <a:spcBef>
                <a:spcPts val="400"/>
              </a:spcBef>
              <a:defRPr sz="1100">
                <a:solidFill>
                  <a:srgbClr val="F8FAFC"/>
                </a:solidFill>
              </a:defRPr>
            </a:pPr>
            <a:r>
              <a:t>•  Class probabilities %</a:t>
            </a:r>
          </a:p>
        </p:txBody>
      </p:sp>
      <p:sp>
        <p:nvSpPr>
          <p:cNvPr id="17" name="Rounded Rectangle 16"/>
          <p:cNvSpPr/>
          <p:nvPr/>
        </p:nvSpPr>
        <p:spPr>
          <a:xfrm>
            <a:off x="9400032" y="1645920"/>
            <a:ext cx="20574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645920"/>
            <a:ext cx="20574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82912" y="1783080"/>
            <a:ext cx="1691640" cy="4114800"/>
          </a:xfrm>
          <a:prstGeom prst="rect">
            <a:avLst/>
          </a:prstGeom>
          <a:noFill/>
        </p:spPr>
        <p:txBody>
          <a:bodyPr wrap="square">
            <a:spAutoFit/>
          </a:bodyPr>
          <a:lstStyle/>
          <a:p>
            <a:pPr>
              <a:defRPr sz="1400" b="1">
                <a:solidFill>
                  <a:srgbClr val="38BDF8"/>
                </a:solidFill>
              </a:defRPr>
            </a:pPr>
            <a:r>
              <a:t>Step 5: XAI &amp; UI</a:t>
            </a:r>
          </a:p>
          <a:p>
            <a:pPr>
              <a:spcBef>
                <a:spcPts val="400"/>
              </a:spcBef>
              <a:defRPr sz="1100">
                <a:solidFill>
                  <a:srgbClr val="F8FAFC"/>
                </a:solidFill>
              </a:defRPr>
            </a:pPr>
            <a:r>
              <a:t>•  [SHAP + 2D/3D]</a:t>
            </a:r>
          </a:p>
          <a:p>
            <a:pPr>
              <a:spcBef>
                <a:spcPts val="400"/>
              </a:spcBef>
              <a:defRPr sz="1100">
                <a:solidFill>
                  <a:srgbClr val="F8FAFC"/>
                </a:solidFill>
              </a:defRPr>
            </a:pPr>
            <a:r>
              <a:t>•  SHAP feature attribution</a:t>
            </a:r>
          </a:p>
          <a:p>
            <a:pPr>
              <a:spcBef>
                <a:spcPts val="400"/>
              </a:spcBef>
              <a:defRPr sz="1100">
                <a:solidFill>
                  <a:srgbClr val="F8FAFC"/>
                </a:solidFill>
              </a:defRPr>
            </a:pPr>
            <a:r>
              <a:t>•  2D SVG &amp; 3D Conformer</a:t>
            </a:r>
          </a:p>
          <a:p>
            <a:pPr>
              <a:spcBef>
                <a:spcPts val="400"/>
              </a:spcBef>
              <a:defRPr sz="1100">
                <a:solidFill>
                  <a:srgbClr val="F8FAFC"/>
                </a:solidFill>
              </a:defRPr>
            </a:pPr>
            <a:r>
              <a:t>•  Interactive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Data Ingestion, Curation &amp; Dataset Provenance</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297680"/>
          </a:xfrm>
          <a:prstGeom prst="rect">
            <a:avLst/>
          </a:prstGeom>
          <a:noFill/>
        </p:spPr>
        <p:txBody>
          <a:bodyPr wrap="square">
            <a:spAutoFit/>
          </a:bodyPr>
          <a:lstStyle/>
          <a:p>
            <a:pPr>
              <a:defRPr sz="1400" b="1">
                <a:solidFill>
                  <a:srgbClr val="10B981"/>
                </a:solidFill>
              </a:defRPr>
            </a:pPr>
            <a:r>
              <a:t>HIA Benchmark Dataset (Hou et al.)</a:t>
            </a:r>
          </a:p>
          <a:p>
            <a:pPr>
              <a:spcBef>
                <a:spcPts val="400"/>
              </a:spcBef>
              <a:defRPr sz="1100">
                <a:solidFill>
                  <a:srgbClr val="F8FAFC"/>
                </a:solidFill>
              </a:defRPr>
            </a:pPr>
            <a:r>
              <a:t>•  Source: Therapeutic Data Commons (TDC) / Hou et al.</a:t>
            </a:r>
          </a:p>
          <a:p>
            <a:pPr>
              <a:spcBef>
                <a:spcPts val="400"/>
              </a:spcBef>
              <a:defRPr sz="1100">
                <a:solidFill>
                  <a:srgbClr val="F8FAFC"/>
                </a:solidFill>
              </a:defRPr>
            </a:pPr>
            <a:r>
              <a:t>•  Dataset Size: 578 experimentally evaluated compounds</a:t>
            </a:r>
          </a:p>
          <a:p>
            <a:pPr>
              <a:spcBef>
                <a:spcPts val="400"/>
              </a:spcBef>
              <a:defRPr sz="1100">
                <a:solidFill>
                  <a:srgbClr val="F8FAFC"/>
                </a:solidFill>
              </a:defRPr>
            </a:pPr>
            <a:r>
              <a:t>•  Target Definition: Intestinal absorption percentage</a:t>
            </a:r>
          </a:p>
          <a:p>
            <a:pPr>
              <a:spcBef>
                <a:spcPts val="400"/>
              </a:spcBef>
              <a:defRPr sz="1100">
                <a:solidFill>
                  <a:srgbClr val="F8FAFC"/>
                </a:solidFill>
              </a:defRPr>
            </a:pPr>
            <a:r>
              <a:t>•  Class Definition: Threshold &gt;= 30% absorption</a:t>
            </a:r>
          </a:p>
          <a:p>
            <a:pPr>
              <a:spcBef>
                <a:spcPts val="400"/>
              </a:spcBef>
              <a:defRPr sz="1100">
                <a:solidFill>
                  <a:srgbClr val="F8FAFC"/>
                </a:solidFill>
              </a:defRPr>
            </a:pPr>
            <a:r>
              <a:t>•    • Class 1 (HIA+ High Absorption): 500 compounds (86.5%)</a:t>
            </a:r>
          </a:p>
          <a:p>
            <a:pPr>
              <a:spcBef>
                <a:spcPts val="400"/>
              </a:spcBef>
              <a:defRPr sz="1100">
                <a:solidFill>
                  <a:srgbClr val="F8FAFC"/>
                </a:solidFill>
              </a:defRPr>
            </a:pPr>
            <a:r>
              <a:t>•    • Class 0 (HIA- Low Absorption): 78 compounds (13.5%)</a:t>
            </a:r>
          </a:p>
          <a:p>
            <a:pPr>
              <a:spcBef>
                <a:spcPts val="400"/>
              </a:spcBef>
              <a:defRPr sz="1100">
                <a:solidFill>
                  <a:srgbClr val="F8FAFC"/>
                </a:solidFill>
              </a:defRPr>
            </a:pPr>
            <a:r>
              <a:t>•  Data Preprocessing:</a:t>
            </a:r>
          </a:p>
          <a:p>
            <a:pPr>
              <a:spcBef>
                <a:spcPts val="400"/>
              </a:spcBef>
              <a:defRPr sz="1100">
                <a:solidFill>
                  <a:srgbClr val="F8FAFC"/>
                </a:solidFill>
              </a:defRPr>
            </a:pPr>
            <a:r>
              <a:t>•    • Automated column detection &amp; SMILES validation</a:t>
            </a:r>
          </a:p>
          <a:p>
            <a:pPr>
              <a:spcBef>
                <a:spcPts val="400"/>
              </a:spcBef>
              <a:defRPr sz="1100">
                <a:solidFill>
                  <a:srgbClr val="F8FAFC"/>
                </a:solidFill>
              </a:defRPr>
            </a:pPr>
            <a:r>
              <a:t>•    • Canonical SMILES deduplication</a:t>
            </a:r>
          </a:p>
          <a:p>
            <a:pPr>
              <a:spcBef>
                <a:spcPts val="400"/>
              </a:spcBef>
              <a:defRPr sz="1100">
                <a:solidFill>
                  <a:srgbClr val="F8FAFC"/>
                </a:solidFill>
              </a:defRPr>
            </a:pPr>
            <a:r>
              <a:t>•    • Stratified 65% Train / 15% Val / 20% Test split</a:t>
            </a:r>
          </a:p>
        </p:txBody>
      </p:sp>
      <p:sp>
        <p:nvSpPr>
          <p:cNvPr id="8" name="Rounded Rectangle 7"/>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4297680"/>
          </a:xfrm>
          <a:prstGeom prst="rect">
            <a:avLst/>
          </a:prstGeom>
          <a:noFill/>
        </p:spPr>
        <p:txBody>
          <a:bodyPr wrap="square">
            <a:spAutoFit/>
          </a:bodyPr>
          <a:lstStyle/>
          <a:p>
            <a:pPr>
              <a:defRPr sz="1400" b="1">
                <a:solidFill>
                  <a:srgbClr val="818CF8"/>
                </a:solidFill>
              </a:defRPr>
            </a:pPr>
            <a:r>
              <a:t>HOB Benchmark Dataset (Ma et al.)</a:t>
            </a:r>
          </a:p>
          <a:p>
            <a:pPr>
              <a:spcBef>
                <a:spcPts val="400"/>
              </a:spcBef>
              <a:defRPr sz="1100">
                <a:solidFill>
                  <a:srgbClr val="F8FAFC"/>
                </a:solidFill>
              </a:defRPr>
            </a:pPr>
            <a:r>
              <a:t>•  Source: Ma et al. Human Oral Bioavailability Compendium</a:t>
            </a:r>
          </a:p>
          <a:p>
            <a:pPr>
              <a:spcBef>
                <a:spcPts val="400"/>
              </a:spcBef>
              <a:defRPr sz="1100">
                <a:solidFill>
                  <a:srgbClr val="F8FAFC"/>
                </a:solidFill>
              </a:defRPr>
            </a:pPr>
            <a:r>
              <a:t>•  Dataset Size: 640 diverse clinical drug molecules</a:t>
            </a:r>
          </a:p>
          <a:p>
            <a:pPr>
              <a:spcBef>
                <a:spcPts val="400"/>
              </a:spcBef>
              <a:defRPr sz="1100">
                <a:solidFill>
                  <a:srgbClr val="F8FAFC"/>
                </a:solidFill>
              </a:defRPr>
            </a:pPr>
            <a:r>
              <a:t>•  Target Definition: Systemic bioavailability percentage (F%)</a:t>
            </a:r>
          </a:p>
          <a:p>
            <a:pPr>
              <a:spcBef>
                <a:spcPts val="400"/>
              </a:spcBef>
              <a:defRPr sz="1100">
                <a:solidFill>
                  <a:srgbClr val="F8FAFC"/>
                </a:solidFill>
              </a:defRPr>
            </a:pPr>
            <a:r>
              <a:t>•  Class Definition: Threshold F &gt;= 30% bioavailability</a:t>
            </a:r>
          </a:p>
          <a:p>
            <a:pPr>
              <a:spcBef>
                <a:spcPts val="400"/>
              </a:spcBef>
              <a:defRPr sz="1100">
                <a:solidFill>
                  <a:srgbClr val="F8FAFC"/>
                </a:solidFill>
              </a:defRPr>
            </a:pPr>
            <a:r>
              <a:t>•    • Class 1 (HOB+ High Bioavailability): 492 compounds (76.9%)</a:t>
            </a:r>
          </a:p>
          <a:p>
            <a:pPr>
              <a:spcBef>
                <a:spcPts val="400"/>
              </a:spcBef>
              <a:defRPr sz="1100">
                <a:solidFill>
                  <a:srgbClr val="F8FAFC"/>
                </a:solidFill>
              </a:defRPr>
            </a:pPr>
            <a:r>
              <a:t>•    • Class 0 (HOB- Low Bioavailability): 148 compounds (23.1%)</a:t>
            </a:r>
          </a:p>
          <a:p>
            <a:pPr>
              <a:spcBef>
                <a:spcPts val="400"/>
              </a:spcBef>
              <a:defRPr sz="1100">
                <a:solidFill>
                  <a:srgbClr val="F8FAFC"/>
                </a:solidFill>
              </a:defRPr>
            </a:pPr>
            <a:r>
              <a:t>•  Handling Challenge:</a:t>
            </a:r>
          </a:p>
          <a:p>
            <a:pPr>
              <a:spcBef>
                <a:spcPts val="400"/>
              </a:spcBef>
              <a:defRPr sz="1100">
                <a:solidFill>
                  <a:srgbClr val="F8FAFC"/>
                </a:solidFill>
              </a:defRPr>
            </a:pPr>
            <a:r>
              <a:t>•    • HOB is intrinsically more complex than HIA due to liver metabolism</a:t>
            </a:r>
          </a:p>
          <a:p>
            <a:pPr>
              <a:spcBef>
                <a:spcPts val="400"/>
              </a:spcBef>
              <a:defRPr sz="1100">
                <a:solidFill>
                  <a:srgbClr val="F8FAFC"/>
                </a:solidFill>
              </a:defRPr>
            </a:pPr>
            <a:r>
              <a:t>•    • Class imbalance addressed via class weights in model training</a:t>
            </a:r>
          </a:p>
          <a:p>
            <a:pPr>
              <a:spcBef>
                <a:spcPts val="400"/>
              </a:spcBef>
              <a:defRPr sz="1100">
                <a:solidFill>
                  <a:srgbClr val="F8FAFC"/>
                </a:solidFill>
              </a:defRPr>
            </a:pPr>
            <a:r>
              <a:t>•    • Stratified holdout test set for unbiased generalization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Molecular Feature Engineering: 706 Dimensions</a:t>
            </a:r>
          </a:p>
        </p:txBody>
      </p:sp>
      <p:sp>
        <p:nvSpPr>
          <p:cNvPr id="5" name="Rounded Rectangle 4"/>
          <p:cNvSpPr/>
          <p:nvPr/>
        </p:nvSpPr>
        <p:spPr>
          <a:xfrm>
            <a:off x="7315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17520" cy="4297680"/>
          </a:xfrm>
          <a:prstGeom prst="rect">
            <a:avLst/>
          </a:prstGeom>
          <a:noFill/>
        </p:spPr>
        <p:txBody>
          <a:bodyPr wrap="square">
            <a:spAutoFit/>
          </a:bodyPr>
          <a:lstStyle/>
          <a:p>
            <a:pPr>
              <a:defRPr sz="1400" b="1">
                <a:solidFill>
                  <a:srgbClr val="38BDF8"/>
                </a:solidFill>
              </a:defRPr>
            </a:pPr>
            <a:r>
              <a:t>1. RDKit Descriptors (18)</a:t>
            </a:r>
          </a:p>
          <a:p>
            <a:pPr>
              <a:spcBef>
                <a:spcPts val="400"/>
              </a:spcBef>
              <a:defRPr sz="1100">
                <a:solidFill>
                  <a:srgbClr val="F8FAFC"/>
                </a:solidFill>
              </a:defRPr>
            </a:pPr>
            <a:r>
              <a:t>•  Captures macroscopic physical chemistry:</a:t>
            </a:r>
          </a:p>
          <a:p>
            <a:pPr>
              <a:spcBef>
                <a:spcPts val="400"/>
              </a:spcBef>
              <a:defRPr sz="1100">
                <a:solidFill>
                  <a:srgbClr val="F8FAFC"/>
                </a:solidFill>
              </a:defRPr>
            </a:pPr>
            <a:r>
              <a:t>•    • Molecular Weight (MolWt)</a:t>
            </a:r>
          </a:p>
          <a:p>
            <a:pPr>
              <a:spcBef>
                <a:spcPts val="400"/>
              </a:spcBef>
              <a:defRPr sz="1100">
                <a:solidFill>
                  <a:srgbClr val="F8FAFC"/>
                </a:solidFill>
              </a:defRPr>
            </a:pPr>
            <a:r>
              <a:t>•    • Wildman-Crippen LogP (Lipophilicity)</a:t>
            </a:r>
          </a:p>
          <a:p>
            <a:pPr>
              <a:spcBef>
                <a:spcPts val="400"/>
              </a:spcBef>
              <a:defRPr sz="1100">
                <a:solidFill>
                  <a:srgbClr val="F8FAFC"/>
                </a:solidFill>
              </a:defRPr>
            </a:pPr>
            <a:r>
              <a:t>•    • TPSA (Polar surface area for permeability)</a:t>
            </a:r>
          </a:p>
          <a:p>
            <a:pPr>
              <a:spcBef>
                <a:spcPts val="400"/>
              </a:spcBef>
              <a:defRPr sz="1100">
                <a:solidFill>
                  <a:srgbClr val="F8FAFC"/>
                </a:solidFill>
              </a:defRPr>
            </a:pPr>
            <a:r>
              <a:t>•    • H-Bond Donors &amp; Acceptors (HBD/HBA)</a:t>
            </a:r>
          </a:p>
          <a:p>
            <a:pPr>
              <a:spcBef>
                <a:spcPts val="400"/>
              </a:spcBef>
              <a:defRPr sz="1100">
                <a:solidFill>
                  <a:srgbClr val="F8FAFC"/>
                </a:solidFill>
              </a:defRPr>
            </a:pPr>
            <a:r>
              <a:t>•    • Rotatable Bonds (Flexibility)</a:t>
            </a:r>
          </a:p>
          <a:p>
            <a:pPr>
              <a:spcBef>
                <a:spcPts val="400"/>
              </a:spcBef>
              <a:defRPr sz="1100">
                <a:solidFill>
                  <a:srgbClr val="F8FAFC"/>
                </a:solidFill>
              </a:defRPr>
            </a:pPr>
            <a:r>
              <a:t>•    • Aromatic &amp; Aliphatic Ring Counts</a:t>
            </a:r>
          </a:p>
          <a:p>
            <a:pPr>
              <a:spcBef>
                <a:spcPts val="400"/>
              </a:spcBef>
              <a:defRPr sz="1100">
                <a:solidFill>
                  <a:srgbClr val="F8FAFC"/>
                </a:solidFill>
              </a:defRPr>
            </a:pPr>
            <a:r>
              <a:t>•    • Heavy Atom Count &amp; Fraction Csp3</a:t>
            </a:r>
          </a:p>
          <a:p>
            <a:pPr>
              <a:spcBef>
                <a:spcPts val="400"/>
              </a:spcBef>
              <a:defRPr sz="1100">
                <a:solidFill>
                  <a:srgbClr val="F8FAFC"/>
                </a:solidFill>
              </a:defRPr>
            </a:pPr>
            <a:r>
              <a:t>•    • Formal Charge &amp; Molar Refractivity</a:t>
            </a:r>
          </a:p>
          <a:p>
            <a:pPr>
              <a:spcBef>
                <a:spcPts val="400"/>
              </a:spcBef>
              <a:defRPr sz="1100">
                <a:solidFill>
                  <a:srgbClr val="F8FAFC"/>
                </a:solidFill>
              </a:defRPr>
            </a:pPr>
            <a:r>
              <a:t>•  Rule of 5 &amp; Veber Compliance scoring</a:t>
            </a:r>
          </a:p>
        </p:txBody>
      </p:sp>
      <p:sp>
        <p:nvSpPr>
          <p:cNvPr id="8" name="Rounded Rectangle 7"/>
          <p:cNvSpPr/>
          <p:nvPr/>
        </p:nvSpPr>
        <p:spPr>
          <a:xfrm>
            <a:off x="43891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3017520" cy="4297680"/>
          </a:xfrm>
          <a:prstGeom prst="rect">
            <a:avLst/>
          </a:prstGeom>
          <a:noFill/>
        </p:spPr>
        <p:txBody>
          <a:bodyPr wrap="square">
            <a:spAutoFit/>
          </a:bodyPr>
          <a:lstStyle/>
          <a:p>
            <a:pPr>
              <a:defRPr sz="1400" b="1">
                <a:solidFill>
                  <a:srgbClr val="818CF8"/>
                </a:solidFill>
              </a:defRPr>
            </a:pPr>
            <a:r>
              <a:t>2. Mordred 2D Descriptors (176)</a:t>
            </a:r>
          </a:p>
          <a:p>
            <a:pPr>
              <a:spcBef>
                <a:spcPts val="400"/>
              </a:spcBef>
              <a:defRPr sz="1100">
                <a:solidFill>
                  <a:srgbClr val="F8FAFC"/>
                </a:solidFill>
              </a:defRPr>
            </a:pPr>
            <a:r>
              <a:t>•  Captures topological graph invariants:</a:t>
            </a:r>
          </a:p>
          <a:p>
            <a:pPr>
              <a:spcBef>
                <a:spcPts val="400"/>
              </a:spcBef>
              <a:defRPr sz="1100">
                <a:solidFill>
                  <a:srgbClr val="F8FAFC"/>
                </a:solidFill>
              </a:defRPr>
            </a:pPr>
            <a:r>
              <a:t>•    • bpol (Sum of bond polarizabilities)</a:t>
            </a:r>
          </a:p>
          <a:p>
            <a:pPr>
              <a:spcBef>
                <a:spcPts val="400"/>
              </a:spcBef>
              <a:defRPr sz="1100">
                <a:solidFill>
                  <a:srgbClr val="F8FAFC"/>
                </a:solidFill>
              </a:defRPr>
            </a:pPr>
            <a:r>
              <a:t>•    • nHetero (Total heteroatom count)</a:t>
            </a:r>
          </a:p>
          <a:p>
            <a:pPr>
              <a:spcBef>
                <a:spcPts val="400"/>
              </a:spcBef>
              <a:defRPr sz="1100">
                <a:solidFill>
                  <a:srgbClr val="F8FAFC"/>
                </a:solidFill>
              </a:defRPr>
            </a:pPr>
            <a:r>
              <a:t>•    • Balaban J &amp; Zagreb index (Branching)</a:t>
            </a:r>
          </a:p>
          <a:p>
            <a:pPr>
              <a:spcBef>
                <a:spcPts val="400"/>
              </a:spcBef>
              <a:defRPr sz="1100">
                <a:solidFill>
                  <a:srgbClr val="F8FAFC"/>
                </a:solidFill>
              </a:defRPr>
            </a:pPr>
            <a:r>
              <a:t>•    • Topological distance &amp; adjacency matrices</a:t>
            </a:r>
          </a:p>
          <a:p>
            <a:pPr>
              <a:spcBef>
                <a:spcPts val="400"/>
              </a:spcBef>
              <a:defRPr sz="1100">
                <a:solidFill>
                  <a:srgbClr val="F8FAFC"/>
                </a:solidFill>
              </a:defRPr>
            </a:pPr>
            <a:r>
              <a:t>•    • Autocorrelation &amp; Barysz descriptors</a:t>
            </a:r>
          </a:p>
          <a:p>
            <a:pPr>
              <a:spcBef>
                <a:spcPts val="400"/>
              </a:spcBef>
              <a:defRPr sz="1100">
                <a:solidFill>
                  <a:srgbClr val="F8FAFC"/>
                </a:solidFill>
              </a:defRPr>
            </a:pPr>
            <a:r>
              <a:t>•  Eliminates 3D coordinate dependencies for ultra-fast in-silico screening</a:t>
            </a:r>
          </a:p>
          <a:p>
            <a:pPr>
              <a:spcBef>
                <a:spcPts val="400"/>
              </a:spcBef>
              <a:defRPr sz="1100">
                <a:solidFill>
                  <a:srgbClr val="F8FAFC"/>
                </a:solidFill>
              </a:defRPr>
            </a:pPr>
            <a:r>
              <a:t>•  All descriptors NaN-imputed and sanitized</a:t>
            </a:r>
          </a:p>
        </p:txBody>
      </p:sp>
      <p:sp>
        <p:nvSpPr>
          <p:cNvPr id="11" name="Rounded Rectangle 10"/>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3017520" cy="4297680"/>
          </a:xfrm>
          <a:prstGeom prst="rect">
            <a:avLst/>
          </a:prstGeom>
          <a:noFill/>
        </p:spPr>
        <p:txBody>
          <a:bodyPr wrap="square">
            <a:spAutoFit/>
          </a:bodyPr>
          <a:lstStyle/>
          <a:p>
            <a:pPr>
              <a:defRPr sz="1400" b="1">
                <a:solidFill>
                  <a:srgbClr val="10B981"/>
                </a:solidFill>
              </a:defRPr>
            </a:pPr>
            <a:r>
              <a:t>3. Morgan Fingerprints (512)</a:t>
            </a:r>
          </a:p>
          <a:p>
            <a:pPr>
              <a:spcBef>
                <a:spcPts val="400"/>
              </a:spcBef>
              <a:defRPr sz="1100">
                <a:solidFill>
                  <a:srgbClr val="F8FAFC"/>
                </a:solidFill>
              </a:defRPr>
            </a:pPr>
            <a:r>
              <a:t>•  Captures local chemical microenvironments:</a:t>
            </a:r>
          </a:p>
          <a:p>
            <a:pPr>
              <a:spcBef>
                <a:spcPts val="400"/>
              </a:spcBef>
              <a:defRPr sz="1100">
                <a:solidFill>
                  <a:srgbClr val="F8FAFC"/>
                </a:solidFill>
              </a:defRPr>
            </a:pPr>
            <a:r>
              <a:t>•    • Extended Connectivity Fingerprints (ECFP4)</a:t>
            </a:r>
          </a:p>
          <a:p>
            <a:pPr>
              <a:spcBef>
                <a:spcPts val="400"/>
              </a:spcBef>
              <a:defRPr sz="1100">
                <a:solidFill>
                  <a:srgbClr val="F8FAFC"/>
                </a:solidFill>
              </a:defRPr>
            </a:pPr>
            <a:r>
              <a:t>•    • Circular radius = 2 bonds</a:t>
            </a:r>
          </a:p>
          <a:p>
            <a:pPr>
              <a:spcBef>
                <a:spcPts val="400"/>
              </a:spcBef>
              <a:defRPr sz="1100">
                <a:solidFill>
                  <a:srgbClr val="F8FAFC"/>
                </a:solidFill>
              </a:defRPr>
            </a:pPr>
            <a:r>
              <a:t>•    • Fixed bit length: 512-bit vector</a:t>
            </a:r>
          </a:p>
          <a:p>
            <a:pPr>
              <a:spcBef>
                <a:spcPts val="400"/>
              </a:spcBef>
              <a:defRPr sz="1100">
                <a:solidFill>
                  <a:srgbClr val="F8FAFC"/>
                </a:solidFill>
              </a:defRPr>
            </a:pPr>
            <a:r>
              <a:t>•    • Encodes aromatic rings, carbonyls, esters,</a:t>
            </a:r>
          </a:p>
          <a:p>
            <a:pPr>
              <a:spcBef>
                <a:spcPts val="400"/>
              </a:spcBef>
              <a:defRPr sz="1100">
                <a:solidFill>
                  <a:srgbClr val="F8FAFC"/>
                </a:solidFill>
              </a:defRPr>
            </a:pPr>
            <a:r>
              <a:t>•      amines, halogens, and functional groups</a:t>
            </a:r>
          </a:p>
          <a:p>
            <a:pPr>
              <a:spcBef>
                <a:spcPts val="400"/>
              </a:spcBef>
              <a:defRPr sz="1100">
                <a:solidFill>
                  <a:srgbClr val="F8FAFC"/>
                </a:solidFill>
              </a:defRPr>
            </a:pPr>
            <a:r>
              <a:t>•  Ensures deterministic feature ordering across training and live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Machine Learning Model Comparison: 6 Algorithms</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297680"/>
          </a:xfrm>
          <a:prstGeom prst="rect">
            <a:avLst/>
          </a:prstGeom>
          <a:noFill/>
        </p:spPr>
        <p:txBody>
          <a:bodyPr wrap="square">
            <a:spAutoFit/>
          </a:bodyPr>
          <a:lstStyle/>
          <a:p>
            <a:pPr>
              <a:defRPr sz="1400" b="1">
                <a:solidFill>
                  <a:srgbClr val="10B981"/>
                </a:solidFill>
              </a:defRPr>
            </a:pPr>
            <a:r>
              <a:t>HIA Model Evaluation (Hou et al.)</a:t>
            </a:r>
          </a:p>
          <a:p>
            <a:pPr>
              <a:spcBef>
                <a:spcPts val="400"/>
              </a:spcBef>
              <a:defRPr sz="1100">
                <a:solidFill>
                  <a:srgbClr val="F8FAFC"/>
                </a:solidFill>
              </a:defRPr>
            </a:pPr>
            <a:r>
              <a:t>•  Evaluated on unseen holdout test set (n=116):</a:t>
            </a:r>
          </a:p>
          <a:p>
            <a:pPr>
              <a:spcBef>
                <a:spcPts val="400"/>
              </a:spcBef>
              <a:defRPr sz="1100">
                <a:solidFill>
                  <a:srgbClr val="F8FAFC"/>
                </a:solidFill>
              </a:defRPr>
            </a:pPr>
            <a:r>
              <a:t>•    1. CatBoost (Selected Best):</a:t>
            </a:r>
          </a:p>
          <a:p>
            <a:pPr>
              <a:spcBef>
                <a:spcPts val="400"/>
              </a:spcBef>
              <a:defRPr sz="1100">
                <a:solidFill>
                  <a:srgbClr val="F8FAFC"/>
                </a:solidFill>
              </a:defRPr>
            </a:pPr>
            <a:r>
              <a:t>•       • Test Accuracy: 93.97% | Balanced Acc: 91.25%</a:t>
            </a:r>
          </a:p>
          <a:p>
            <a:pPr>
              <a:spcBef>
                <a:spcPts val="400"/>
              </a:spcBef>
              <a:defRPr sz="1100">
                <a:solidFill>
                  <a:srgbClr val="F8FAFC"/>
                </a:solidFill>
              </a:defRPr>
            </a:pPr>
            <a:r>
              <a:t>•       • ROC-AUC: 0.9844 | F1-Score: 0.9645</a:t>
            </a:r>
          </a:p>
          <a:p>
            <a:pPr>
              <a:spcBef>
                <a:spcPts val="400"/>
              </a:spcBef>
              <a:defRPr sz="1100">
                <a:solidFill>
                  <a:srgbClr val="F8FAFC"/>
                </a:solidFill>
              </a:defRPr>
            </a:pPr>
            <a:r>
              <a:t>•       • Precision: 97.94% | Sensitivity: 95.00%</a:t>
            </a:r>
          </a:p>
          <a:p>
            <a:pPr>
              <a:spcBef>
                <a:spcPts val="400"/>
              </a:spcBef>
              <a:defRPr sz="1100">
                <a:solidFill>
                  <a:srgbClr val="F8FAFC"/>
                </a:solidFill>
              </a:defRPr>
            </a:pPr>
            <a:r>
              <a:t>•    2. Random Forest: Bal Acc = 85.50%, ROC-AUC = 0.9600</a:t>
            </a:r>
          </a:p>
          <a:p>
            <a:pPr>
              <a:spcBef>
                <a:spcPts val="400"/>
              </a:spcBef>
              <a:defRPr sz="1100">
                <a:solidFill>
                  <a:srgbClr val="F8FAFC"/>
                </a:solidFill>
              </a:defRPr>
            </a:pPr>
            <a:r>
              <a:t>•    3. Balanced Random Forest: Bal Acc = 84.17%, ROC-AUC = 0.9422</a:t>
            </a:r>
          </a:p>
          <a:p>
            <a:pPr>
              <a:spcBef>
                <a:spcPts val="400"/>
              </a:spcBef>
              <a:defRPr sz="1100">
                <a:solidFill>
                  <a:srgbClr val="F8FAFC"/>
                </a:solidFill>
              </a:defRPr>
            </a:pPr>
            <a:r>
              <a:t>•    4. Logistic Regression: Bal Acc = 77.83%, ROC-AUC = 0.9511</a:t>
            </a:r>
          </a:p>
          <a:p>
            <a:pPr>
              <a:spcBef>
                <a:spcPts val="400"/>
              </a:spcBef>
              <a:defRPr sz="1100">
                <a:solidFill>
                  <a:srgbClr val="F8FAFC"/>
                </a:solidFill>
              </a:defRPr>
            </a:pPr>
            <a:r>
              <a:t>•    5. LightGBM: Bal Acc = 76.50%, ROC-AUC = 0.9411</a:t>
            </a:r>
          </a:p>
          <a:p>
            <a:pPr>
              <a:spcBef>
                <a:spcPts val="400"/>
              </a:spcBef>
              <a:defRPr sz="1100">
                <a:solidFill>
                  <a:srgbClr val="F8FAFC"/>
                </a:solidFill>
              </a:defRPr>
            </a:pPr>
            <a:r>
              <a:t>•    6. SVM: Bal Acc = 70.17%, ROC-AUC = 0.9389</a:t>
            </a:r>
          </a:p>
        </p:txBody>
      </p:sp>
      <p:sp>
        <p:nvSpPr>
          <p:cNvPr id="8" name="Rounded Rectangle 7"/>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4297680"/>
          </a:xfrm>
          <a:prstGeom prst="rect">
            <a:avLst/>
          </a:prstGeom>
          <a:noFill/>
        </p:spPr>
        <p:txBody>
          <a:bodyPr wrap="square">
            <a:spAutoFit/>
          </a:bodyPr>
          <a:lstStyle/>
          <a:p>
            <a:pPr>
              <a:defRPr sz="1400" b="1">
                <a:solidFill>
                  <a:srgbClr val="818CF8"/>
                </a:solidFill>
              </a:defRPr>
            </a:pPr>
            <a:r>
              <a:t>HOB Model Evaluation (Ma et al.)</a:t>
            </a:r>
          </a:p>
          <a:p>
            <a:pPr>
              <a:spcBef>
                <a:spcPts val="400"/>
              </a:spcBef>
              <a:defRPr sz="1100">
                <a:solidFill>
                  <a:srgbClr val="F8FAFC"/>
                </a:solidFill>
              </a:defRPr>
            </a:pPr>
            <a:r>
              <a:t>•  Evaluated on unseen holdout test set (n=128):</a:t>
            </a:r>
          </a:p>
          <a:p>
            <a:pPr>
              <a:spcBef>
                <a:spcPts val="400"/>
              </a:spcBef>
              <a:defRPr sz="1100">
                <a:solidFill>
                  <a:srgbClr val="F8FAFC"/>
                </a:solidFill>
              </a:defRPr>
            </a:pPr>
            <a:r>
              <a:t>•    1. CatBoost (Selected Best):</a:t>
            </a:r>
          </a:p>
          <a:p>
            <a:pPr>
              <a:spcBef>
                <a:spcPts val="400"/>
              </a:spcBef>
              <a:defRPr sz="1100">
                <a:solidFill>
                  <a:srgbClr val="F8FAFC"/>
                </a:solidFill>
              </a:defRPr>
            </a:pPr>
            <a:r>
              <a:t>•       • Test Accuracy: 74.22% | Balanced Acc: 57.72%</a:t>
            </a:r>
          </a:p>
          <a:p>
            <a:pPr>
              <a:spcBef>
                <a:spcPts val="400"/>
              </a:spcBef>
              <a:defRPr sz="1100">
                <a:solidFill>
                  <a:srgbClr val="F8FAFC"/>
                </a:solidFill>
              </a:defRPr>
            </a:pPr>
            <a:r>
              <a:t>•       • ROC-AUC: 0.7425 | F1-Score: 0.8406</a:t>
            </a:r>
          </a:p>
          <a:p>
            <a:pPr>
              <a:spcBef>
                <a:spcPts val="400"/>
              </a:spcBef>
              <a:defRPr sz="1100">
                <a:solidFill>
                  <a:srgbClr val="F8FAFC"/>
                </a:solidFill>
              </a:defRPr>
            </a:pPr>
            <a:r>
              <a:t>•       • High Precision on Positive Class (77.9%)</a:t>
            </a:r>
          </a:p>
          <a:p>
            <a:pPr>
              <a:spcBef>
                <a:spcPts val="400"/>
              </a:spcBef>
              <a:defRPr sz="1100">
                <a:solidFill>
                  <a:srgbClr val="F8FAFC"/>
                </a:solidFill>
              </a:defRPr>
            </a:pPr>
            <a:r>
              <a:t>•    2. Logistic Regression: Bal Acc = 65.79%, ROC-AUC = 0.7285</a:t>
            </a:r>
          </a:p>
          <a:p>
            <a:pPr>
              <a:spcBef>
                <a:spcPts val="400"/>
              </a:spcBef>
              <a:defRPr sz="1100">
                <a:solidFill>
                  <a:srgbClr val="F8FAFC"/>
                </a:solidFill>
              </a:defRPr>
            </a:pPr>
            <a:r>
              <a:t>•    3. Random Forest: Bal Acc = 63.02%, ROC-AUC = 0.7039</a:t>
            </a:r>
          </a:p>
          <a:p>
            <a:pPr>
              <a:spcBef>
                <a:spcPts val="400"/>
              </a:spcBef>
              <a:defRPr sz="1100">
                <a:solidFill>
                  <a:srgbClr val="F8FAFC"/>
                </a:solidFill>
              </a:defRPr>
            </a:pPr>
            <a:r>
              <a:t>•    4. LightGBM: Bal Acc = 62.10%, ROC-AUC = 0.6695</a:t>
            </a:r>
          </a:p>
          <a:p>
            <a:pPr>
              <a:spcBef>
                <a:spcPts val="400"/>
              </a:spcBef>
              <a:defRPr sz="1100">
                <a:solidFill>
                  <a:srgbClr val="F8FAFC"/>
                </a:solidFill>
              </a:defRPr>
            </a:pPr>
            <a:r>
              <a:t>•    5. Balanced Random Forest: Bal Acc = 61.92%, ROC-AUC = 0.6517</a:t>
            </a:r>
          </a:p>
          <a:p>
            <a:pPr>
              <a:spcBef>
                <a:spcPts val="400"/>
              </a:spcBef>
              <a:defRPr sz="1100">
                <a:solidFill>
                  <a:srgbClr val="F8FAFC"/>
                </a:solidFill>
              </a:defRPr>
            </a:pPr>
            <a:r>
              <a:t>•    6. SVM: Bal Acc = 56.63%, ROC-AUC = 0.6732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Dual Inference Engine: Unified Prediction Architecture</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297680"/>
          </a:xfrm>
          <a:prstGeom prst="rect">
            <a:avLst/>
          </a:prstGeom>
          <a:noFill/>
        </p:spPr>
        <p:txBody>
          <a:bodyPr wrap="square">
            <a:spAutoFit/>
          </a:bodyPr>
          <a:lstStyle/>
          <a:p>
            <a:pPr>
              <a:defRPr sz="1400" b="1">
                <a:solidFill>
                  <a:srgbClr val="10B981"/>
                </a:solidFill>
              </a:defRPr>
            </a:pPr>
            <a:r>
              <a:t>HIA Prediction Card Output</a:t>
            </a:r>
          </a:p>
          <a:p>
            <a:pPr>
              <a:spcBef>
                <a:spcPts val="400"/>
              </a:spcBef>
              <a:defRPr sz="1100">
                <a:solidFill>
                  <a:srgbClr val="F8FAFC"/>
                </a:solidFill>
              </a:defRPr>
            </a:pPr>
            <a:r>
              <a:t>•  Endpoint: Human Intestinal Absorption</a:t>
            </a:r>
          </a:p>
          <a:p>
            <a:pPr>
              <a:spcBef>
                <a:spcPts val="400"/>
              </a:spcBef>
              <a:defRPr sz="1100">
                <a:solidFill>
                  <a:srgbClr val="F8FAFC"/>
                </a:solidFill>
              </a:defRPr>
            </a:pPr>
            <a:r>
              <a:t>•  Predicted Class: High (HIA+) or Low (HIA-)</a:t>
            </a:r>
          </a:p>
          <a:p>
            <a:pPr>
              <a:spcBef>
                <a:spcPts val="400"/>
              </a:spcBef>
              <a:defRPr sz="1100">
                <a:solidFill>
                  <a:srgbClr val="F8FAFC"/>
                </a:solidFill>
              </a:defRPr>
            </a:pPr>
            <a:r>
              <a:t>•  Class Probability Bar: 0% to 100%</a:t>
            </a:r>
          </a:p>
          <a:p>
            <a:pPr>
              <a:spcBef>
                <a:spcPts val="400"/>
              </a:spcBef>
              <a:defRPr sz="1100">
                <a:solidFill>
                  <a:srgbClr val="F8FAFC"/>
                </a:solidFill>
              </a:defRPr>
            </a:pPr>
            <a:r>
              <a:t>•  Confidence Score: Absolute difference from threshold (0.50)</a:t>
            </a:r>
          </a:p>
          <a:p>
            <a:pPr>
              <a:spcBef>
                <a:spcPts val="400"/>
              </a:spcBef>
              <a:defRPr sz="1100">
                <a:solidFill>
                  <a:srgbClr val="F8FAFC"/>
                </a:solidFill>
              </a:defRPr>
            </a:pPr>
            <a:r>
              <a:t>•  Decision Threshold: 0.50 (Hou et al. &gt;= 30% absorption)</a:t>
            </a:r>
          </a:p>
          <a:p>
            <a:pPr>
              <a:spcBef>
                <a:spcPts val="400"/>
              </a:spcBef>
              <a:defRPr sz="1100">
                <a:solidFill>
                  <a:srgbClr val="F8FAFC"/>
                </a:solidFill>
              </a:defRPr>
            </a:pPr>
            <a:r>
              <a:t>•  Pharmacological Meaning:</a:t>
            </a:r>
          </a:p>
          <a:p>
            <a:pPr>
              <a:spcBef>
                <a:spcPts val="400"/>
              </a:spcBef>
              <a:defRPr sz="1100">
                <a:solidFill>
                  <a:srgbClr val="F8FAFC"/>
                </a:solidFill>
              </a:defRPr>
            </a:pPr>
            <a:r>
              <a:t>•    • High indicates drug readily penetrates gut epithelial layer</a:t>
            </a:r>
          </a:p>
          <a:p>
            <a:pPr>
              <a:spcBef>
                <a:spcPts val="400"/>
              </a:spcBef>
              <a:defRPr sz="1100">
                <a:solidFill>
                  <a:srgbClr val="F8FAFC"/>
                </a:solidFill>
              </a:defRPr>
            </a:pPr>
            <a:r>
              <a:t>•    • Low indicates compound likely requires structural modification or formulation enhancement</a:t>
            </a:r>
          </a:p>
        </p:txBody>
      </p:sp>
      <p:sp>
        <p:nvSpPr>
          <p:cNvPr id="8" name="Rounded Rectangle 7"/>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4297680"/>
          </a:xfrm>
          <a:prstGeom prst="rect">
            <a:avLst/>
          </a:prstGeom>
          <a:noFill/>
        </p:spPr>
        <p:txBody>
          <a:bodyPr wrap="square">
            <a:spAutoFit/>
          </a:bodyPr>
          <a:lstStyle/>
          <a:p>
            <a:pPr>
              <a:defRPr sz="1400" b="1">
                <a:solidFill>
                  <a:srgbClr val="38BDF8"/>
                </a:solidFill>
              </a:defRPr>
            </a:pPr>
            <a:r>
              <a:t>HOB Prediction Card Output</a:t>
            </a:r>
          </a:p>
          <a:p>
            <a:pPr>
              <a:spcBef>
                <a:spcPts val="400"/>
              </a:spcBef>
              <a:defRPr sz="1100">
                <a:solidFill>
                  <a:srgbClr val="F8FAFC"/>
                </a:solidFill>
              </a:defRPr>
            </a:pPr>
            <a:r>
              <a:t>•  Endpoint: Human Oral Bioavailability</a:t>
            </a:r>
          </a:p>
          <a:p>
            <a:pPr>
              <a:spcBef>
                <a:spcPts val="400"/>
              </a:spcBef>
              <a:defRPr sz="1100">
                <a:solidFill>
                  <a:srgbClr val="F8FAFC"/>
                </a:solidFill>
              </a:defRPr>
            </a:pPr>
            <a:r>
              <a:t>•  Predicted Class: High (HOB+) or Low (HOB-)</a:t>
            </a:r>
          </a:p>
          <a:p>
            <a:pPr>
              <a:spcBef>
                <a:spcPts val="400"/>
              </a:spcBef>
              <a:defRPr sz="1100">
                <a:solidFill>
                  <a:srgbClr val="F8FAFC"/>
                </a:solidFill>
              </a:defRPr>
            </a:pPr>
            <a:r>
              <a:t>•  Class Probability Bar: 0% to 100%</a:t>
            </a:r>
          </a:p>
          <a:p>
            <a:pPr>
              <a:spcBef>
                <a:spcPts val="400"/>
              </a:spcBef>
              <a:defRPr sz="1100">
                <a:solidFill>
                  <a:srgbClr val="F8FAFC"/>
                </a:solidFill>
              </a:defRPr>
            </a:pPr>
            <a:r>
              <a:t>•  Confidence Score: Probability certainty margin</a:t>
            </a:r>
          </a:p>
          <a:p>
            <a:pPr>
              <a:spcBef>
                <a:spcPts val="400"/>
              </a:spcBef>
              <a:defRPr sz="1100">
                <a:solidFill>
                  <a:srgbClr val="F8FAFC"/>
                </a:solidFill>
              </a:defRPr>
            </a:pPr>
            <a:r>
              <a:t>•  Decision Threshold: 0.50 (Ma et al. F &gt;= 30%)</a:t>
            </a:r>
          </a:p>
          <a:p>
            <a:pPr>
              <a:spcBef>
                <a:spcPts val="400"/>
              </a:spcBef>
              <a:defRPr sz="1100">
                <a:solidFill>
                  <a:srgbClr val="F8FAFC"/>
                </a:solidFill>
              </a:defRPr>
            </a:pPr>
            <a:r>
              <a:t>•  Pharmacological Meaning:</a:t>
            </a:r>
          </a:p>
          <a:p>
            <a:pPr>
              <a:spcBef>
                <a:spcPts val="400"/>
              </a:spcBef>
              <a:defRPr sz="1100">
                <a:solidFill>
                  <a:srgbClr val="F8FAFC"/>
                </a:solidFill>
              </a:defRPr>
            </a:pPr>
            <a:r>
              <a:t>•    • High indicates significant fraction reaches systemic circulation intact</a:t>
            </a:r>
          </a:p>
          <a:p>
            <a:pPr>
              <a:spcBef>
                <a:spcPts val="400"/>
              </a:spcBef>
              <a:defRPr sz="1100">
                <a:solidFill>
                  <a:srgbClr val="F8FAFC"/>
                </a:solidFill>
              </a:defRPr>
            </a:pPr>
            <a:r>
              <a:t>•    • Low highlights risk of heavy first-pass metabolism or biliary efflux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Explainable AI (SHAP): Opening the Black Box</a:t>
            </a:r>
          </a:p>
        </p:txBody>
      </p:sp>
      <p:sp>
        <p:nvSpPr>
          <p:cNvPr id="5" name="Rounded Rectangle 4"/>
          <p:cNvSpPr/>
          <p:nvPr/>
        </p:nvSpPr>
        <p:spPr>
          <a:xfrm>
            <a:off x="7315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17520" cy="4297680"/>
          </a:xfrm>
          <a:prstGeom prst="rect">
            <a:avLst/>
          </a:prstGeom>
          <a:noFill/>
        </p:spPr>
        <p:txBody>
          <a:bodyPr wrap="square">
            <a:spAutoFit/>
          </a:bodyPr>
          <a:lstStyle/>
          <a:p>
            <a:pPr>
              <a:defRPr sz="1400" b="1">
                <a:solidFill>
                  <a:srgbClr val="10B981"/>
                </a:solidFill>
              </a:defRPr>
            </a:pPr>
            <a:r>
              <a:t>Local Attribution</a:t>
            </a:r>
          </a:p>
          <a:p>
            <a:pPr>
              <a:spcBef>
                <a:spcPts val="400"/>
              </a:spcBef>
              <a:defRPr sz="1100">
                <a:solidFill>
                  <a:srgbClr val="F8FAFC"/>
                </a:solidFill>
              </a:defRPr>
            </a:pPr>
            <a:r>
              <a:t>•  TreeExplainer computes exact Shapley value for every feature in the molecule</a:t>
            </a:r>
          </a:p>
          <a:p>
            <a:pPr>
              <a:spcBef>
                <a:spcPts val="400"/>
              </a:spcBef>
              <a:defRPr sz="1100">
                <a:solidFill>
                  <a:srgbClr val="F8FAFC"/>
                </a:solidFill>
              </a:defRPr>
            </a:pPr>
            <a:r>
              <a:t>•  Explains positive and negative forces driving prediction</a:t>
            </a:r>
          </a:p>
          <a:p>
            <a:pPr>
              <a:spcBef>
                <a:spcPts val="400"/>
              </a:spcBef>
              <a:defRPr sz="1100">
                <a:solidFill>
                  <a:srgbClr val="F8FAFC"/>
                </a:solidFill>
              </a:defRPr>
            </a:pPr>
            <a:r>
              <a:t>•  Interactive Plotly horizontal bar chart rendered in UI</a:t>
            </a:r>
          </a:p>
          <a:p>
            <a:pPr>
              <a:spcBef>
                <a:spcPts val="400"/>
              </a:spcBef>
              <a:defRPr sz="1100">
                <a:solidFill>
                  <a:srgbClr val="F8FAFC"/>
                </a:solidFill>
              </a:defRPr>
            </a:pPr>
            <a:r>
              <a:t>•  Zero black-box ambiguity for medicinal chemists</a:t>
            </a:r>
          </a:p>
        </p:txBody>
      </p:sp>
      <p:sp>
        <p:nvSpPr>
          <p:cNvPr id="8" name="Rounded Rectangle 7"/>
          <p:cNvSpPr/>
          <p:nvPr/>
        </p:nvSpPr>
        <p:spPr>
          <a:xfrm>
            <a:off x="43891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3017520" cy="4297680"/>
          </a:xfrm>
          <a:prstGeom prst="rect">
            <a:avLst/>
          </a:prstGeom>
          <a:noFill/>
        </p:spPr>
        <p:txBody>
          <a:bodyPr wrap="square">
            <a:spAutoFit/>
          </a:bodyPr>
          <a:lstStyle/>
          <a:p>
            <a:pPr>
              <a:defRPr sz="1400" b="1">
                <a:solidFill>
                  <a:srgbClr val="818CF8"/>
                </a:solidFill>
              </a:defRPr>
            </a:pPr>
            <a:r>
              <a:t>Key Learned Rules</a:t>
            </a:r>
          </a:p>
          <a:p>
            <a:pPr>
              <a:spcBef>
                <a:spcPts val="400"/>
              </a:spcBef>
              <a:defRPr sz="1100">
                <a:solidFill>
                  <a:srgbClr val="F8FAFC"/>
                </a:solidFill>
              </a:defRPr>
            </a:pPr>
            <a:r>
              <a:t>•  Top Features Governing Absorption:</a:t>
            </a:r>
          </a:p>
          <a:p>
            <a:pPr>
              <a:spcBef>
                <a:spcPts val="400"/>
              </a:spcBef>
              <a:defRPr sz="1100">
                <a:solidFill>
                  <a:srgbClr val="F8FAFC"/>
                </a:solidFill>
              </a:defRPr>
            </a:pPr>
            <a:r>
              <a:t>•    1. TPSA: Low polar surface (&lt; 140 Å²) strongly pushes towards High</a:t>
            </a:r>
          </a:p>
          <a:p>
            <a:pPr>
              <a:spcBef>
                <a:spcPts val="400"/>
              </a:spcBef>
              <a:defRPr sz="1100">
                <a:solidFill>
                  <a:srgbClr val="F8FAFC"/>
                </a:solidFill>
              </a:defRPr>
            </a:pPr>
            <a:r>
              <a:t>•    2. Formal Charge: Neutral species penetrate faster than ionized drugs</a:t>
            </a:r>
          </a:p>
          <a:p>
            <a:pPr>
              <a:spcBef>
                <a:spcPts val="400"/>
              </a:spcBef>
              <a:defRPr sz="1100">
                <a:solidFill>
                  <a:srgbClr val="F8FAFC"/>
                </a:solidFill>
              </a:defRPr>
            </a:pPr>
            <a:r>
              <a:t>•    3. LogP: Optimal range 1-4 favors membrane partition</a:t>
            </a:r>
          </a:p>
          <a:p>
            <a:pPr>
              <a:spcBef>
                <a:spcPts val="400"/>
              </a:spcBef>
              <a:defRPr sz="1100">
                <a:solidFill>
                  <a:srgbClr val="F8FAFC"/>
                </a:solidFill>
              </a:defRPr>
            </a:pPr>
            <a:r>
              <a:t>•    4. Bond Polarizability (bpol): Directly promotes passive transport</a:t>
            </a:r>
          </a:p>
        </p:txBody>
      </p:sp>
      <p:sp>
        <p:nvSpPr>
          <p:cNvPr id="11" name="Rounded Rectangle 10"/>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3017520" cy="4297680"/>
          </a:xfrm>
          <a:prstGeom prst="rect">
            <a:avLst/>
          </a:prstGeom>
          <a:noFill/>
        </p:spPr>
        <p:txBody>
          <a:bodyPr wrap="square">
            <a:spAutoFit/>
          </a:bodyPr>
          <a:lstStyle/>
          <a:p>
            <a:pPr>
              <a:defRPr sz="1400" b="1">
                <a:solidFill>
                  <a:srgbClr val="38BDF8"/>
                </a:solidFill>
              </a:defRPr>
            </a:pPr>
            <a:r>
              <a:t>Global Importance</a:t>
            </a:r>
          </a:p>
          <a:p>
            <a:pPr>
              <a:spcBef>
                <a:spcPts val="400"/>
              </a:spcBef>
              <a:defRPr sz="1100">
                <a:solidFill>
                  <a:srgbClr val="F8FAFC"/>
                </a:solidFill>
              </a:defRPr>
            </a:pPr>
            <a:r>
              <a:t>•  Global feature importance ranks all 706 descriptors across training set</a:t>
            </a:r>
          </a:p>
          <a:p>
            <a:pPr>
              <a:spcBef>
                <a:spcPts val="400"/>
              </a:spcBef>
              <a:defRPr sz="1100">
                <a:solidFill>
                  <a:srgbClr val="F8FAFC"/>
                </a:solidFill>
              </a:defRPr>
            </a:pPr>
            <a:r>
              <a:t>•  Reveals overall model reliance on molecular shape vs. functional bits</a:t>
            </a:r>
          </a:p>
          <a:p>
            <a:pPr>
              <a:spcBef>
                <a:spcPts val="400"/>
              </a:spcBef>
              <a:defRPr sz="1100">
                <a:solidFill>
                  <a:srgbClr val="F8FAFC"/>
                </a:solidFill>
              </a:defRPr>
            </a:pPr>
            <a:r>
              <a:t>•  Validates that the AI learns true biophysical rules rather than dataset noise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2D Vector &amp; 3D Conformer Visualization</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297680"/>
          </a:xfrm>
          <a:prstGeom prst="rect">
            <a:avLst/>
          </a:prstGeom>
          <a:noFill/>
        </p:spPr>
        <p:txBody>
          <a:bodyPr wrap="square">
            <a:spAutoFit/>
          </a:bodyPr>
          <a:lstStyle/>
          <a:p>
            <a:pPr>
              <a:defRPr sz="1400" b="1">
                <a:solidFill>
                  <a:srgbClr val="38BDF8"/>
                </a:solidFill>
              </a:defRPr>
            </a:pPr>
            <a:r>
              <a:t>2D Vector Depiction (RDKit SVG)</a:t>
            </a:r>
          </a:p>
          <a:p>
            <a:pPr>
              <a:spcBef>
                <a:spcPts val="400"/>
              </a:spcBef>
              <a:defRPr sz="1100">
                <a:solidFill>
                  <a:srgbClr val="F8FAFC"/>
                </a:solidFill>
              </a:defRPr>
            </a:pPr>
            <a:r>
              <a:t>•  Primary molecular visualization method</a:t>
            </a:r>
          </a:p>
          <a:p>
            <a:pPr>
              <a:spcBef>
                <a:spcPts val="400"/>
              </a:spcBef>
              <a:defRPr sz="1100">
                <a:solidFill>
                  <a:srgbClr val="F8FAFC"/>
                </a:solidFill>
              </a:defRPr>
            </a:pPr>
            <a:r>
              <a:t>•  Utilizes RDKit rdMolDraw2D for crisp vector rendering</a:t>
            </a:r>
          </a:p>
          <a:p>
            <a:pPr>
              <a:spcBef>
                <a:spcPts val="400"/>
              </a:spcBef>
              <a:defRPr sz="1100">
                <a:solidFill>
                  <a:srgbClr val="F8FAFC"/>
                </a:solidFill>
              </a:defRPr>
            </a:pPr>
            <a:r>
              <a:t>•  Features:</a:t>
            </a:r>
          </a:p>
          <a:p>
            <a:pPr>
              <a:spcBef>
                <a:spcPts val="400"/>
              </a:spcBef>
              <a:defRPr sz="1100">
                <a:solidFill>
                  <a:srgbClr val="F8FAFC"/>
                </a:solidFill>
              </a:defRPr>
            </a:pPr>
            <a:r>
              <a:t>•    • Crisp SVG scaling on high-DPI displays</a:t>
            </a:r>
          </a:p>
          <a:p>
            <a:pPr>
              <a:spcBef>
                <a:spcPts val="400"/>
              </a:spcBef>
              <a:defRPr sz="1100">
                <a:solidFill>
                  <a:srgbClr val="F8FAFC"/>
                </a:solidFill>
              </a:defRPr>
            </a:pPr>
            <a:r>
              <a:t>•    • Standard IUPAC coloring (Nitrogen blue, Oxygen red, Halogens green)</a:t>
            </a:r>
          </a:p>
          <a:p>
            <a:pPr>
              <a:spcBef>
                <a:spcPts val="400"/>
              </a:spcBef>
              <a:defRPr sz="1100">
                <a:solidFill>
                  <a:srgbClr val="F8FAFC"/>
                </a:solidFill>
              </a:defRPr>
            </a:pPr>
            <a:r>
              <a:t>•    • Clear stereo bond wedges and dashes</a:t>
            </a:r>
          </a:p>
          <a:p>
            <a:pPr>
              <a:spcBef>
                <a:spcPts val="400"/>
              </a:spcBef>
              <a:defRPr sz="1100">
                <a:solidFill>
                  <a:srgbClr val="F8FAFC"/>
                </a:solidFill>
              </a:defRPr>
            </a:pPr>
            <a:r>
              <a:t>•    • Embedded directly into Streamlit UI without blurriness</a:t>
            </a:r>
          </a:p>
        </p:txBody>
      </p:sp>
      <p:sp>
        <p:nvSpPr>
          <p:cNvPr id="8" name="Rounded Rectangle 7"/>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4297680"/>
          </a:xfrm>
          <a:prstGeom prst="rect">
            <a:avLst/>
          </a:prstGeom>
          <a:noFill/>
        </p:spPr>
        <p:txBody>
          <a:bodyPr wrap="square">
            <a:spAutoFit/>
          </a:bodyPr>
          <a:lstStyle/>
          <a:p>
            <a:pPr>
              <a:defRPr sz="1400" b="1">
                <a:solidFill>
                  <a:srgbClr val="818CF8"/>
                </a:solidFill>
              </a:defRPr>
            </a:pPr>
            <a:r>
              <a:t>Interactive 3D Viewer (3Dmol.js)</a:t>
            </a:r>
          </a:p>
          <a:p>
            <a:pPr>
              <a:spcBef>
                <a:spcPts val="400"/>
              </a:spcBef>
              <a:defRPr sz="1100">
                <a:solidFill>
                  <a:srgbClr val="F8FAFC"/>
                </a:solidFill>
              </a:defRPr>
            </a:pPr>
            <a:r>
              <a:t>•  Simulates in-vivo 3D molecular geometry:</a:t>
            </a:r>
          </a:p>
          <a:p>
            <a:pPr>
              <a:spcBef>
                <a:spcPts val="400"/>
              </a:spcBef>
              <a:defRPr sz="1100">
                <a:solidFill>
                  <a:srgbClr val="F8FAFC"/>
                </a:solidFill>
              </a:defRPr>
            </a:pPr>
            <a:r>
              <a:t>•    • RDKit ETKDG (Experimental-Torsion Knowledge Distance Geometry)</a:t>
            </a:r>
          </a:p>
          <a:p>
            <a:pPr>
              <a:spcBef>
                <a:spcPts val="400"/>
              </a:spcBef>
              <a:defRPr sz="1100">
                <a:solidFill>
                  <a:srgbClr val="F8FAFC"/>
                </a:solidFill>
              </a:defRPr>
            </a:pPr>
            <a:r>
              <a:t>•    • MMFF94 force-field energy minimization</a:t>
            </a:r>
          </a:p>
          <a:p>
            <a:pPr>
              <a:spcBef>
                <a:spcPts val="400"/>
              </a:spcBef>
              <a:defRPr sz="1100">
                <a:solidFill>
                  <a:srgbClr val="F8FAFC"/>
                </a:solidFill>
              </a:defRPr>
            </a:pPr>
            <a:r>
              <a:t>•    • Produces standard MolBlock coordinate representation</a:t>
            </a:r>
          </a:p>
          <a:p>
            <a:pPr>
              <a:spcBef>
                <a:spcPts val="400"/>
              </a:spcBef>
              <a:defRPr sz="1100">
                <a:solidFill>
                  <a:srgbClr val="F8FAFC"/>
                </a:solidFill>
              </a:defRPr>
            </a:pPr>
            <a:r>
              <a:t>•    • Interactive 3D viewer rendered in 3Dmol.js HTML iframe:</a:t>
            </a:r>
          </a:p>
          <a:p>
            <a:pPr>
              <a:spcBef>
                <a:spcPts val="400"/>
              </a:spcBef>
              <a:defRPr sz="1100">
                <a:solidFill>
                  <a:srgbClr val="F8FAFC"/>
                </a:solidFill>
              </a:defRPr>
            </a:pPr>
            <a:r>
              <a:t>•      - Mouse rotation, zoom, pan</a:t>
            </a:r>
          </a:p>
          <a:p>
            <a:pPr>
              <a:spcBef>
                <a:spcPts val="400"/>
              </a:spcBef>
              <a:defRPr sz="1100">
                <a:solidFill>
                  <a:srgbClr val="F8FAFC"/>
                </a:solidFill>
              </a:defRPr>
            </a:pPr>
            <a:r>
              <a:t>•      - Stick and sphere pharmacophore rendering</a:t>
            </a:r>
          </a:p>
          <a:p>
            <a:pPr>
              <a:spcBef>
                <a:spcPts val="400"/>
              </a:spcBef>
              <a:defRPr sz="1100">
                <a:solidFill>
                  <a:srgbClr val="F8FAFC"/>
                </a:solidFill>
              </a:defRPr>
            </a:pPr>
            <a:r>
              <a:t>•    • Graceful fallback to 2D if conformer embedding fails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Streamlit Dashboard: 5 Dedicated Views</a:t>
            </a:r>
          </a:p>
        </p:txBody>
      </p:sp>
      <p:sp>
        <p:nvSpPr>
          <p:cNvPr id="5" name="Rounded Rectangle 4"/>
          <p:cNvSpPr/>
          <p:nvPr/>
        </p:nvSpPr>
        <p:spPr>
          <a:xfrm>
            <a:off x="731520" y="1645920"/>
            <a:ext cx="2057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574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1691640" cy="4297680"/>
          </a:xfrm>
          <a:prstGeom prst="rect">
            <a:avLst/>
          </a:prstGeom>
          <a:noFill/>
        </p:spPr>
        <p:txBody>
          <a:bodyPr wrap="square">
            <a:spAutoFit/>
          </a:bodyPr>
          <a:lstStyle/>
          <a:p>
            <a:pPr>
              <a:defRPr sz="1400" b="1">
                <a:solidFill>
                  <a:srgbClr val="38BDF8"/>
                </a:solidFill>
              </a:defRPr>
            </a:pPr>
            <a:r>
              <a:t>🏠 Home Page</a:t>
            </a:r>
          </a:p>
          <a:p>
            <a:pPr>
              <a:spcBef>
                <a:spcPts val="400"/>
              </a:spcBef>
              <a:defRPr sz="1100">
                <a:solidFill>
                  <a:srgbClr val="F8FAFC"/>
                </a:solidFill>
              </a:defRPr>
            </a:pPr>
            <a:r>
              <a:t>•  Project overview</a:t>
            </a:r>
          </a:p>
          <a:p>
            <a:pPr>
              <a:spcBef>
                <a:spcPts val="400"/>
              </a:spcBef>
              <a:defRPr sz="1100">
                <a:solidFill>
                  <a:srgbClr val="F8FAFC"/>
                </a:solidFill>
              </a:defRPr>
            </a:pPr>
            <a:r>
              <a:t>•  Official problem statement</a:t>
            </a:r>
          </a:p>
          <a:p>
            <a:pPr>
              <a:spcBef>
                <a:spcPts val="400"/>
              </a:spcBef>
              <a:defRPr sz="1100">
                <a:solidFill>
                  <a:srgbClr val="F8FAFC"/>
                </a:solidFill>
              </a:defRPr>
            </a:pPr>
            <a:r>
              <a:t>•  Scientific disclaimer box</a:t>
            </a:r>
          </a:p>
          <a:p>
            <a:pPr>
              <a:spcBef>
                <a:spcPts val="400"/>
              </a:spcBef>
              <a:defRPr sz="1100">
                <a:solidFill>
                  <a:srgbClr val="F8FAFC"/>
                </a:solidFill>
              </a:defRPr>
            </a:pPr>
            <a:r>
              <a:t>•  Highlight cards</a:t>
            </a:r>
          </a:p>
        </p:txBody>
      </p:sp>
      <p:sp>
        <p:nvSpPr>
          <p:cNvPr id="8" name="Rounded Rectangle 7"/>
          <p:cNvSpPr/>
          <p:nvPr/>
        </p:nvSpPr>
        <p:spPr>
          <a:xfrm>
            <a:off x="2898648" y="1645920"/>
            <a:ext cx="2057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645920"/>
            <a:ext cx="20574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81528" y="1783080"/>
            <a:ext cx="1691640" cy="4297680"/>
          </a:xfrm>
          <a:prstGeom prst="rect">
            <a:avLst/>
          </a:prstGeom>
          <a:noFill/>
        </p:spPr>
        <p:txBody>
          <a:bodyPr wrap="square">
            <a:spAutoFit/>
          </a:bodyPr>
          <a:lstStyle/>
          <a:p>
            <a:pPr>
              <a:defRPr sz="1400" b="1">
                <a:solidFill>
                  <a:srgbClr val="10B981"/>
                </a:solidFill>
              </a:defRPr>
            </a:pPr>
            <a:r>
              <a:t>💊 Molecular Prediction</a:t>
            </a:r>
          </a:p>
          <a:p>
            <a:pPr>
              <a:spcBef>
                <a:spcPts val="400"/>
              </a:spcBef>
              <a:defRPr sz="1100">
                <a:solidFill>
                  <a:srgbClr val="F8FAFC"/>
                </a:solidFill>
              </a:defRPr>
            </a:pPr>
            <a:r>
              <a:t>•  SMILES input + Demo dropdown</a:t>
            </a:r>
          </a:p>
          <a:p>
            <a:pPr>
              <a:spcBef>
                <a:spcPts val="400"/>
              </a:spcBef>
              <a:defRPr sz="1100">
                <a:solidFill>
                  <a:srgbClr val="F8FAFC"/>
                </a:solidFill>
              </a:defRPr>
            </a:pPr>
            <a:r>
              <a:t>•  Dual HIA/HOB glass cards</a:t>
            </a:r>
          </a:p>
          <a:p>
            <a:pPr>
              <a:spcBef>
                <a:spcPts val="400"/>
              </a:spcBef>
              <a:defRPr sz="1100">
                <a:solidFill>
                  <a:srgbClr val="F8FAFC"/>
                </a:solidFill>
              </a:defRPr>
            </a:pPr>
            <a:r>
              <a:t>•  2D/3D structure viewer</a:t>
            </a:r>
          </a:p>
          <a:p>
            <a:pPr>
              <a:spcBef>
                <a:spcPts val="400"/>
              </a:spcBef>
              <a:defRPr sz="1100">
                <a:solidFill>
                  <a:srgbClr val="F8FAFC"/>
                </a:solidFill>
              </a:defRPr>
            </a:pPr>
            <a:r>
              <a:t>•  Lipinski &amp; Veber tables</a:t>
            </a:r>
          </a:p>
        </p:txBody>
      </p:sp>
      <p:sp>
        <p:nvSpPr>
          <p:cNvPr id="11" name="Rounded Rectangle 10"/>
          <p:cNvSpPr/>
          <p:nvPr/>
        </p:nvSpPr>
        <p:spPr>
          <a:xfrm>
            <a:off x="5065776" y="1645920"/>
            <a:ext cx="2057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645920"/>
            <a:ext cx="205740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6" y="1783080"/>
            <a:ext cx="1691640" cy="4297680"/>
          </a:xfrm>
          <a:prstGeom prst="rect">
            <a:avLst/>
          </a:prstGeom>
          <a:noFill/>
        </p:spPr>
        <p:txBody>
          <a:bodyPr wrap="square">
            <a:spAutoFit/>
          </a:bodyPr>
          <a:lstStyle/>
          <a:p>
            <a:pPr>
              <a:defRPr sz="1400" b="1">
                <a:solidFill>
                  <a:srgbClr val="818CF8"/>
                </a:solidFill>
              </a:defRPr>
            </a:pPr>
            <a:r>
              <a:t>📊 Model Performance</a:t>
            </a:r>
          </a:p>
          <a:p>
            <a:pPr>
              <a:spcBef>
                <a:spcPts val="400"/>
              </a:spcBef>
              <a:defRPr sz="1100">
                <a:solidFill>
                  <a:srgbClr val="F8FAFC"/>
                </a:solidFill>
              </a:defRPr>
            </a:pPr>
            <a:r>
              <a:t>•  KPI metric cards</a:t>
            </a:r>
          </a:p>
          <a:p>
            <a:pPr>
              <a:spcBef>
                <a:spcPts val="400"/>
              </a:spcBef>
              <a:defRPr sz="1100">
                <a:solidFill>
                  <a:srgbClr val="F8FAFC"/>
                </a:solidFill>
              </a:defRPr>
            </a:pPr>
            <a:r>
              <a:t>•  6-Algorithm comparison table</a:t>
            </a:r>
          </a:p>
          <a:p>
            <a:pPr>
              <a:spcBef>
                <a:spcPts val="400"/>
              </a:spcBef>
              <a:defRPr sz="1100">
                <a:solidFill>
                  <a:srgbClr val="F8FAFC"/>
                </a:solidFill>
              </a:defRPr>
            </a:pPr>
            <a:r>
              <a:t>•  ROC-AUC &amp; F1 breakdown</a:t>
            </a:r>
          </a:p>
          <a:p>
            <a:pPr>
              <a:spcBef>
                <a:spcPts val="400"/>
              </a:spcBef>
              <a:defRPr sz="1100">
                <a:solidFill>
                  <a:srgbClr val="F8FAFC"/>
                </a:solidFill>
              </a:defRPr>
            </a:pPr>
            <a:r>
              <a:t>•  Dataset distributions</a:t>
            </a:r>
          </a:p>
        </p:txBody>
      </p:sp>
      <p:sp>
        <p:nvSpPr>
          <p:cNvPr id="14" name="Rounded Rectangle 13"/>
          <p:cNvSpPr/>
          <p:nvPr/>
        </p:nvSpPr>
        <p:spPr>
          <a:xfrm>
            <a:off x="7232904" y="1645920"/>
            <a:ext cx="2057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645920"/>
            <a:ext cx="20574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4" y="1783080"/>
            <a:ext cx="1691640" cy="4297680"/>
          </a:xfrm>
          <a:prstGeom prst="rect">
            <a:avLst/>
          </a:prstGeom>
          <a:noFill/>
        </p:spPr>
        <p:txBody>
          <a:bodyPr wrap="square">
            <a:spAutoFit/>
          </a:bodyPr>
          <a:lstStyle/>
          <a:p>
            <a:pPr>
              <a:defRPr sz="1400" b="1">
                <a:solidFill>
                  <a:srgbClr val="F43F5E"/>
                </a:solidFill>
              </a:defRPr>
            </a:pPr>
            <a:r>
              <a:t>🔍 Explainable AI</a:t>
            </a:r>
          </a:p>
          <a:p>
            <a:pPr>
              <a:spcBef>
                <a:spcPts val="400"/>
              </a:spcBef>
              <a:defRPr sz="1100">
                <a:solidFill>
                  <a:srgbClr val="F8FAFC"/>
                </a:solidFill>
              </a:defRPr>
            </a:pPr>
            <a:r>
              <a:t>•  Local SHAP bar charts</a:t>
            </a:r>
          </a:p>
          <a:p>
            <a:pPr>
              <a:spcBef>
                <a:spcPts val="400"/>
              </a:spcBef>
              <a:defRPr sz="1100">
                <a:solidFill>
                  <a:srgbClr val="F8FAFC"/>
                </a:solidFill>
              </a:defRPr>
            </a:pPr>
            <a:r>
              <a:t>•  Positive &amp; negative badges</a:t>
            </a:r>
          </a:p>
          <a:p>
            <a:pPr>
              <a:spcBef>
                <a:spcPts val="400"/>
              </a:spcBef>
              <a:defRPr sz="1100">
                <a:solidFill>
                  <a:srgbClr val="F8FAFC"/>
                </a:solidFill>
              </a:defRPr>
            </a:pPr>
            <a:r>
              <a:t>•  Global importance rankings</a:t>
            </a:r>
          </a:p>
          <a:p>
            <a:pPr>
              <a:spcBef>
                <a:spcPts val="400"/>
              </a:spcBef>
              <a:defRPr sz="1100">
                <a:solidFill>
                  <a:srgbClr val="F8FAFC"/>
                </a:solidFill>
              </a:defRPr>
            </a:pPr>
            <a:r>
              <a:t>•  Pharmacological guide</a:t>
            </a:r>
          </a:p>
        </p:txBody>
      </p:sp>
      <p:sp>
        <p:nvSpPr>
          <p:cNvPr id="17" name="Rounded Rectangle 16"/>
          <p:cNvSpPr/>
          <p:nvPr/>
        </p:nvSpPr>
        <p:spPr>
          <a:xfrm>
            <a:off x="9400032" y="1645920"/>
            <a:ext cx="2057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645920"/>
            <a:ext cx="20574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82912" y="1783080"/>
            <a:ext cx="1691640" cy="4297680"/>
          </a:xfrm>
          <a:prstGeom prst="rect">
            <a:avLst/>
          </a:prstGeom>
          <a:noFill/>
        </p:spPr>
        <p:txBody>
          <a:bodyPr wrap="square">
            <a:spAutoFit/>
          </a:bodyPr>
          <a:lstStyle/>
          <a:p>
            <a:pPr>
              <a:defRPr sz="1400" b="1">
                <a:solidFill>
                  <a:srgbClr val="38BDF8"/>
                </a:solidFill>
              </a:defRPr>
            </a:pPr>
            <a:r>
              <a:t>📖 About Project</a:t>
            </a:r>
          </a:p>
          <a:p>
            <a:pPr>
              <a:spcBef>
                <a:spcPts val="400"/>
              </a:spcBef>
              <a:defRPr sz="1100">
                <a:solidFill>
                  <a:srgbClr val="F8FAFC"/>
                </a:solidFill>
              </a:defRPr>
            </a:pPr>
            <a:r>
              <a:t>•  Scientific methodology</a:t>
            </a:r>
          </a:p>
          <a:p>
            <a:pPr>
              <a:spcBef>
                <a:spcPts val="400"/>
              </a:spcBef>
              <a:defRPr sz="1100">
                <a:solidFill>
                  <a:srgbClr val="F8FAFC"/>
                </a:solidFill>
              </a:defRPr>
            </a:pPr>
            <a:r>
              <a:t>•  Descriptor calculation details</a:t>
            </a:r>
          </a:p>
          <a:p>
            <a:pPr>
              <a:spcBef>
                <a:spcPts val="400"/>
              </a:spcBef>
              <a:defRPr sz="1100">
                <a:solidFill>
                  <a:srgbClr val="F8FAFC"/>
                </a:solidFill>
              </a:defRPr>
            </a:pPr>
            <a:r>
              <a:t>•  TDC dataset references</a:t>
            </a:r>
          </a:p>
          <a:p>
            <a:pPr>
              <a:spcBef>
                <a:spcPts val="400"/>
              </a:spcBef>
              <a:defRPr sz="1100">
                <a:solidFill>
                  <a:srgbClr val="F8FAFC"/>
                </a:solidFill>
              </a:defRPr>
            </a:pPr>
            <a:r>
              <a:t>•  Limitations &amp;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Experimental Case Studies: Known Drug Validation</a:t>
            </a:r>
          </a:p>
        </p:txBody>
      </p:sp>
      <p:sp>
        <p:nvSpPr>
          <p:cNvPr id="5" name="Rounded Rectangle 4"/>
          <p:cNvSpPr/>
          <p:nvPr/>
        </p:nvSpPr>
        <p:spPr>
          <a:xfrm>
            <a:off x="7315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1828800"/>
          </a:xfrm>
          <a:prstGeom prst="rect">
            <a:avLst/>
          </a:prstGeom>
          <a:noFill/>
        </p:spPr>
        <p:txBody>
          <a:bodyPr wrap="square">
            <a:spAutoFit/>
          </a:bodyPr>
          <a:lstStyle/>
          <a:p>
            <a:pPr>
              <a:defRPr sz="1400" b="1">
                <a:solidFill>
                  <a:srgbClr val="10B981"/>
                </a:solidFill>
              </a:defRPr>
            </a:pPr>
            <a:r>
              <a:t>Paracetamol (Acetaminophen)</a:t>
            </a:r>
          </a:p>
          <a:p>
            <a:pPr>
              <a:spcBef>
                <a:spcPts val="400"/>
              </a:spcBef>
              <a:defRPr sz="1100">
                <a:solidFill>
                  <a:srgbClr val="F8FAFC"/>
                </a:solidFill>
              </a:defRPr>
            </a:pPr>
            <a:r>
              <a:t>•  MW: 151.2 | LogP: 1.35 | Ro5: 0</a:t>
            </a:r>
          </a:p>
          <a:p>
            <a:pPr>
              <a:spcBef>
                <a:spcPts val="400"/>
              </a:spcBef>
              <a:defRPr sz="1100">
                <a:solidFill>
                  <a:srgbClr val="F8FAFC"/>
                </a:solidFill>
              </a:defRPr>
            </a:pPr>
            <a:r>
              <a:t>•  HIA: High (99.4%) | HOB: High (87.6%)</a:t>
            </a:r>
          </a:p>
          <a:p>
            <a:pPr>
              <a:spcBef>
                <a:spcPts val="400"/>
              </a:spcBef>
              <a:defRPr sz="1100">
                <a:solidFill>
                  <a:srgbClr val="F8FAFC"/>
                </a:solidFill>
              </a:defRPr>
            </a:pPr>
            <a:r>
              <a:t>•  Result: Matches high clinical bioavailability (~88%)</a:t>
            </a:r>
          </a:p>
        </p:txBody>
      </p:sp>
      <p:sp>
        <p:nvSpPr>
          <p:cNvPr id="8" name="Rounded Rectangle 7"/>
          <p:cNvSpPr/>
          <p:nvPr/>
        </p:nvSpPr>
        <p:spPr>
          <a:xfrm>
            <a:off x="62179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754880" cy="1828800"/>
          </a:xfrm>
          <a:prstGeom prst="rect">
            <a:avLst/>
          </a:prstGeom>
          <a:noFill/>
        </p:spPr>
        <p:txBody>
          <a:bodyPr wrap="square">
            <a:spAutoFit/>
          </a:bodyPr>
          <a:lstStyle/>
          <a:p>
            <a:pPr>
              <a:defRPr sz="1400" b="1">
                <a:solidFill>
                  <a:srgbClr val="38BDF8"/>
                </a:solidFill>
              </a:defRPr>
            </a:pPr>
            <a:r>
              <a:t>Aspirin (Acetylsalicylic acid)</a:t>
            </a:r>
          </a:p>
          <a:p>
            <a:pPr>
              <a:spcBef>
                <a:spcPts val="400"/>
              </a:spcBef>
              <a:defRPr sz="1100">
                <a:solidFill>
                  <a:srgbClr val="F8FAFC"/>
                </a:solidFill>
              </a:defRPr>
            </a:pPr>
            <a:r>
              <a:t>•  MW: 180.2 | LogP: 1.31 | Ro5: 0</a:t>
            </a:r>
          </a:p>
          <a:p>
            <a:pPr>
              <a:spcBef>
                <a:spcPts val="400"/>
              </a:spcBef>
              <a:defRPr sz="1100">
                <a:solidFill>
                  <a:srgbClr val="F8FAFC"/>
                </a:solidFill>
              </a:defRPr>
            </a:pPr>
            <a:r>
              <a:t>•  HIA: High (99.6%) | HOB: High (80.2%)</a:t>
            </a:r>
          </a:p>
          <a:p>
            <a:pPr>
              <a:spcBef>
                <a:spcPts val="400"/>
              </a:spcBef>
              <a:defRPr sz="1100">
                <a:solidFill>
                  <a:srgbClr val="F8FAFC"/>
                </a:solidFill>
              </a:defRPr>
            </a:pPr>
            <a:r>
              <a:t>•  Result: Rapid passive absorption in stomach &amp; gut</a:t>
            </a:r>
          </a:p>
        </p:txBody>
      </p:sp>
      <p:sp>
        <p:nvSpPr>
          <p:cNvPr id="11" name="Rounded Rectangle 10"/>
          <p:cNvSpPr/>
          <p:nvPr/>
        </p:nvSpPr>
        <p:spPr>
          <a:xfrm>
            <a:off x="731520" y="402336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512064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4754880" cy="1828800"/>
          </a:xfrm>
          <a:prstGeom prst="rect">
            <a:avLst/>
          </a:prstGeom>
          <a:noFill/>
        </p:spPr>
        <p:txBody>
          <a:bodyPr wrap="square">
            <a:spAutoFit/>
          </a:bodyPr>
          <a:lstStyle/>
          <a:p>
            <a:pPr>
              <a:defRPr sz="1400" b="1">
                <a:solidFill>
                  <a:srgbClr val="818CF8"/>
                </a:solidFill>
              </a:defRPr>
            </a:pPr>
            <a:r>
              <a:t>Caffeine (CNS Stimulant)</a:t>
            </a:r>
          </a:p>
          <a:p>
            <a:pPr>
              <a:spcBef>
                <a:spcPts val="400"/>
              </a:spcBef>
              <a:defRPr sz="1100">
                <a:solidFill>
                  <a:srgbClr val="F8FAFC"/>
                </a:solidFill>
              </a:defRPr>
            </a:pPr>
            <a:r>
              <a:t>•  MW: 194.2 | LogP: -1.03 | Ro5: 0</a:t>
            </a:r>
          </a:p>
          <a:p>
            <a:pPr>
              <a:spcBef>
                <a:spcPts val="400"/>
              </a:spcBef>
              <a:defRPr sz="1100">
                <a:solidFill>
                  <a:srgbClr val="F8FAFC"/>
                </a:solidFill>
              </a:defRPr>
            </a:pPr>
            <a:r>
              <a:t>•  HIA: High (99.5%) | HOB: High (93.1%)</a:t>
            </a:r>
          </a:p>
          <a:p>
            <a:pPr>
              <a:spcBef>
                <a:spcPts val="400"/>
              </a:spcBef>
              <a:defRPr sz="1100">
                <a:solidFill>
                  <a:srgbClr val="F8FAFC"/>
                </a:solidFill>
              </a:defRPr>
            </a:pPr>
            <a:r>
              <a:t>•  Result: Complete near-100% human bioavailability</a:t>
            </a:r>
          </a:p>
        </p:txBody>
      </p:sp>
      <p:sp>
        <p:nvSpPr>
          <p:cNvPr id="14" name="Rounded Rectangle 13"/>
          <p:cNvSpPr/>
          <p:nvPr/>
        </p:nvSpPr>
        <p:spPr>
          <a:xfrm>
            <a:off x="6217920" y="402336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023360"/>
            <a:ext cx="512064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60520"/>
            <a:ext cx="4754880" cy="1828800"/>
          </a:xfrm>
          <a:prstGeom prst="rect">
            <a:avLst/>
          </a:prstGeom>
          <a:noFill/>
        </p:spPr>
        <p:txBody>
          <a:bodyPr wrap="square">
            <a:spAutoFit/>
          </a:bodyPr>
          <a:lstStyle/>
          <a:p>
            <a:pPr>
              <a:defRPr sz="1400" b="1">
                <a:solidFill>
                  <a:srgbClr val="F43F5E"/>
                </a:solidFill>
              </a:defRPr>
            </a:pPr>
            <a:r>
              <a:t>Atorvastatin (Lipophilic Statin)</a:t>
            </a:r>
          </a:p>
          <a:p>
            <a:pPr>
              <a:spcBef>
                <a:spcPts val="400"/>
              </a:spcBef>
              <a:defRPr sz="1100">
                <a:solidFill>
                  <a:srgbClr val="F8FAFC"/>
                </a:solidFill>
              </a:defRPr>
            </a:pPr>
            <a:r>
              <a:t>•  MW: 558.7 | LogP: 6.31 | Ro5: 2</a:t>
            </a:r>
          </a:p>
          <a:p>
            <a:pPr>
              <a:spcBef>
                <a:spcPts val="400"/>
              </a:spcBef>
              <a:defRPr sz="1100">
                <a:solidFill>
                  <a:srgbClr val="F8FAFC"/>
                </a:solidFill>
              </a:defRPr>
            </a:pPr>
            <a:r>
              <a:t>•  HIA: High (82.0%) | HOB: Low (14.4%)</a:t>
            </a:r>
          </a:p>
          <a:p>
            <a:pPr>
              <a:spcBef>
                <a:spcPts val="400"/>
              </a:spcBef>
              <a:defRPr sz="1100">
                <a:solidFill>
                  <a:srgbClr val="F8FAFC"/>
                </a:solidFill>
              </a:defRPr>
            </a:pPr>
            <a:r>
              <a:t>•  Result: Successfully captures first-pass gut/liver clearance (clinical F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10B981"/>
                </a:solidFill>
              </a:defRPr>
            </a:pPr>
            <a:r>
              <a:t>ORALABSPREDICT — PROJECT WORKFLOW</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Summary, Future Scope &amp; Ethical Disclaimer</a:t>
            </a:r>
          </a:p>
        </p:txBody>
      </p:sp>
      <p:sp>
        <p:nvSpPr>
          <p:cNvPr id="5" name="Rounded Rectangle 4"/>
          <p:cNvSpPr/>
          <p:nvPr/>
        </p:nvSpPr>
        <p:spPr>
          <a:xfrm>
            <a:off x="731520" y="1645920"/>
            <a:ext cx="512064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2651760"/>
          </a:xfrm>
          <a:prstGeom prst="rect">
            <a:avLst/>
          </a:prstGeom>
          <a:noFill/>
        </p:spPr>
        <p:txBody>
          <a:bodyPr wrap="square">
            <a:spAutoFit/>
          </a:bodyPr>
          <a:lstStyle/>
          <a:p>
            <a:pPr>
              <a:defRPr sz="1400" b="1">
                <a:solidFill>
                  <a:srgbClr val="10B981"/>
                </a:solidFill>
              </a:defRPr>
            </a:pPr>
            <a:r>
              <a:t>Project Accomplishments</a:t>
            </a:r>
          </a:p>
          <a:p>
            <a:pPr>
              <a:spcBef>
                <a:spcPts val="400"/>
              </a:spcBef>
              <a:defRPr sz="1100">
                <a:solidFill>
                  <a:srgbClr val="F8FAFC"/>
                </a:solidFill>
              </a:defRPr>
            </a:pPr>
            <a:r>
              <a:t>•  Complete end-to-end AI/ML cheminformatics pipeline built</a:t>
            </a:r>
          </a:p>
          <a:p>
            <a:pPr>
              <a:spcBef>
                <a:spcPts val="400"/>
              </a:spcBef>
              <a:defRPr sz="1100">
                <a:solidFill>
                  <a:srgbClr val="F8FAFC"/>
                </a:solidFill>
              </a:defRPr>
            </a:pPr>
            <a:r>
              <a:t>•  706 hybrid molecular descriptors engineered without 3D runtime lag</a:t>
            </a:r>
          </a:p>
          <a:p>
            <a:pPr>
              <a:spcBef>
                <a:spcPts val="400"/>
              </a:spcBef>
              <a:defRPr sz="1100">
                <a:solidFill>
                  <a:srgbClr val="F8FAFC"/>
                </a:solidFill>
              </a:defRPr>
            </a:pPr>
            <a:r>
              <a:t>•  CatBoost selected after benchmarking across 6 algorithms</a:t>
            </a:r>
          </a:p>
          <a:p>
            <a:pPr>
              <a:spcBef>
                <a:spcPts val="400"/>
              </a:spcBef>
              <a:defRPr sz="1100">
                <a:solidFill>
                  <a:srgbClr val="F8FAFC"/>
                </a:solidFill>
              </a:defRPr>
            </a:pPr>
            <a:r>
              <a:t>•  SHAP explainability guarantees transparent decision attribution</a:t>
            </a:r>
          </a:p>
          <a:p>
            <a:pPr>
              <a:spcBef>
                <a:spcPts val="400"/>
              </a:spcBef>
              <a:defRPr sz="1100">
                <a:solidFill>
                  <a:srgbClr val="F8FAFC"/>
                </a:solidFill>
              </a:defRPr>
            </a:pPr>
            <a:r>
              <a:t>•  23 automated pytest tests passing (100% code coverage on core engine)</a:t>
            </a:r>
          </a:p>
        </p:txBody>
      </p:sp>
      <p:sp>
        <p:nvSpPr>
          <p:cNvPr id="8" name="Rounded Rectangle 7"/>
          <p:cNvSpPr/>
          <p:nvPr/>
        </p:nvSpPr>
        <p:spPr>
          <a:xfrm>
            <a:off x="6217920" y="164592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83080"/>
            <a:ext cx="4846320" cy="2651760"/>
          </a:xfrm>
          <a:prstGeom prst="rect">
            <a:avLst/>
          </a:prstGeom>
          <a:noFill/>
        </p:spPr>
        <p:txBody>
          <a:bodyPr wrap="square">
            <a:spAutoFit/>
          </a:bodyPr>
          <a:lstStyle/>
          <a:p>
            <a:pPr>
              <a:defRPr sz="1400" b="1">
                <a:solidFill>
                  <a:srgbClr val="38BDF8"/>
                </a:solidFill>
              </a:defRPr>
            </a:pPr>
            <a:r>
              <a:t>Future Scope &amp; Enhancements</a:t>
            </a:r>
          </a:p>
          <a:p>
            <a:pPr>
              <a:spcBef>
                <a:spcPts val="400"/>
              </a:spcBef>
              <a:defRPr sz="1100">
                <a:solidFill>
                  <a:srgbClr val="F8FAFC"/>
                </a:solidFill>
              </a:defRPr>
            </a:pPr>
            <a:r>
              <a:t>•  Multi-Task Deep Learning: Graph Neural Networks (GNNs / GCNs)</a:t>
            </a:r>
          </a:p>
          <a:p>
            <a:pPr>
              <a:spcBef>
                <a:spcPts val="400"/>
              </a:spcBef>
              <a:defRPr sz="1100">
                <a:solidFill>
                  <a:srgbClr val="F8FAFC"/>
                </a:solidFill>
              </a:defRPr>
            </a:pPr>
            <a:r>
              <a:t>•  Expanded ADMET Endpoints: Caco-2 permeability, CYP3A4 inhibition, hERG</a:t>
            </a:r>
          </a:p>
          <a:p>
            <a:pPr>
              <a:spcBef>
                <a:spcPts val="400"/>
              </a:spcBef>
              <a:defRPr sz="1100">
                <a:solidFill>
                  <a:srgbClr val="F8FAFC"/>
                </a:solidFill>
              </a:defRPr>
            </a:pPr>
            <a:r>
              <a:t>•  High-Throughput Virtual Screening: Batch CSV upload with async queue</a:t>
            </a:r>
          </a:p>
          <a:p>
            <a:pPr>
              <a:spcBef>
                <a:spcPts val="400"/>
              </a:spcBef>
              <a:defRPr sz="1100">
                <a:solidFill>
                  <a:srgbClr val="F8FAFC"/>
                </a:solidFill>
              </a:defRPr>
            </a:pPr>
            <a:r>
              <a:t>•  De Novo Molecule Generation: Generative AI for bioavailability optimization</a:t>
            </a:r>
          </a:p>
        </p:txBody>
      </p:sp>
      <p:sp>
        <p:nvSpPr>
          <p:cNvPr id="11" name="Rounded Rectangle 10"/>
          <p:cNvSpPr/>
          <p:nvPr/>
        </p:nvSpPr>
        <p:spPr>
          <a:xfrm>
            <a:off x="731520" y="4846320"/>
            <a:ext cx="10698480" cy="1463040"/>
          </a:xfrm>
          <a:prstGeom prst="roundRect">
            <a:avLst/>
          </a:prstGeom>
          <a:solidFill>
            <a:srgbClr val="28190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DE047"/>
                </a:solidFill>
              </a:defRPr>
            </a:pPr>
            <a:r>
              <a:t>⚠️ NON-CLINICAL ACADEMIC RESEARCH DISCLAIMER</a:t>
            </a:r>
          </a:p>
          <a:p>
            <a:pPr>
              <a:spcBef>
                <a:spcPts val="400"/>
              </a:spcBef>
              <a:defRPr sz="1000">
                <a:solidFill>
                  <a:srgbClr val="E2E8F0"/>
                </a:solidFill>
              </a:defRPr>
            </a:pPr>
            <a:r>
              <a:t>OralAbsPredict is developed exclusively for computational screening, cheminformatics education, and academic research. Predictions do not guarantee pharmacokinetic behavior in vivo and must never be used for clinical diagnoses, prescribing, or therapeutic decision-making.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